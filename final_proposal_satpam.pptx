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PROPOSAL / AI SECURITY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960120"/>
            <a:ext cx="512064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00" b="1">
                <a:solidFill>
                  <a:srgbClr val="EAF6FF"/>
                </a:solidFill>
                <a:latin typeface="Aptos Display"/>
              </a:rPr>
              <a:t>SATPAM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1664208"/>
            <a:ext cx="48463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38D9FF"/>
                </a:solidFill>
                <a:latin typeface="Aptos"/>
              </a:rPr>
              <a:t>Search-based AI Threat Prevention and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304288"/>
            <a:ext cx="46634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Sistem graph intelligence untuk deteksi, pemetaan, dan prioritisasi risiko ekosistem judol-pinjol ilegal.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583680" y="868680"/>
            <a:ext cx="1737360" cy="5486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21040" y="868680"/>
            <a:ext cx="1645920" cy="6858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583680" y="1417320"/>
            <a:ext cx="914399" cy="13258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498079" y="2743200"/>
            <a:ext cx="2011681" cy="411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9509760" y="1554480"/>
            <a:ext cx="457200" cy="160020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172200" y="2743200"/>
            <a:ext cx="1325879" cy="118872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172200" y="3931920"/>
            <a:ext cx="2240280" cy="77724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412480" y="3154680"/>
            <a:ext cx="1097280" cy="1554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321040" y="868680"/>
            <a:ext cx="91440" cy="384048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6432804" y="126644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9632" y="161848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sp>
        <p:nvSpPr>
          <p:cNvPr id="44" name="Oval 43"/>
          <p:cNvSpPr/>
          <p:nvPr/>
        </p:nvSpPr>
        <p:spPr>
          <a:xfrm>
            <a:off x="8170164" y="717803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36992" y="1069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Domain</a:t>
            </a:r>
          </a:p>
        </p:txBody>
      </p:sp>
      <p:sp>
        <p:nvSpPr>
          <p:cNvPr id="46" name="Oval 45"/>
          <p:cNvSpPr/>
          <p:nvPr/>
        </p:nvSpPr>
        <p:spPr>
          <a:xfrm>
            <a:off x="9816084" y="140360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82912" y="17556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WA</a:t>
            </a:r>
          </a:p>
        </p:txBody>
      </p:sp>
      <p:sp>
        <p:nvSpPr>
          <p:cNvPr id="48" name="Oval 47"/>
          <p:cNvSpPr/>
          <p:nvPr/>
        </p:nvSpPr>
        <p:spPr>
          <a:xfrm>
            <a:off x="7347204" y="2592324"/>
            <a:ext cx="301752" cy="30175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4031" y="294436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Rekening</a:t>
            </a:r>
          </a:p>
        </p:txBody>
      </p:sp>
      <p:sp>
        <p:nvSpPr>
          <p:cNvPr id="50" name="Oval 49"/>
          <p:cNvSpPr/>
          <p:nvPr/>
        </p:nvSpPr>
        <p:spPr>
          <a:xfrm>
            <a:off x="9358884" y="3003804"/>
            <a:ext cx="301752" cy="30175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25712" y="335584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APK</a:t>
            </a:r>
          </a:p>
        </p:txBody>
      </p:sp>
      <p:sp>
        <p:nvSpPr>
          <p:cNvPr id="52" name="Oval 51"/>
          <p:cNvSpPr/>
          <p:nvPr/>
        </p:nvSpPr>
        <p:spPr>
          <a:xfrm>
            <a:off x="6021324" y="3781044"/>
            <a:ext cx="301752" cy="30175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88152" y="4133087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Blacklist</a:t>
            </a:r>
          </a:p>
        </p:txBody>
      </p:sp>
      <p:sp>
        <p:nvSpPr>
          <p:cNvPr id="54" name="Oval 53"/>
          <p:cNvSpPr/>
          <p:nvPr/>
        </p:nvSpPr>
        <p:spPr>
          <a:xfrm>
            <a:off x="8261604" y="4558284"/>
            <a:ext cx="301752" cy="30175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1" y="4910328"/>
            <a:ext cx="82296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EAF6FF"/>
                </a:solidFill>
                <a:latin typeface="Aptos"/>
              </a:rPr>
              <a:t>Dashboard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682495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755648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43200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16352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03903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77055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64607" y="3749039"/>
            <a:ext cx="91440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37759" y="3803903"/>
            <a:ext cx="768096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21792" y="4919472"/>
            <a:ext cx="4526280" cy="65836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5074920"/>
            <a:ext cx="41148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EAF6FF"/>
                </a:solidFill>
                <a:latin typeface="Aptos"/>
              </a:rPr>
              <a:t>Graph Search + Risk Scoring + Human Verification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Proposal SATPAM | Prototype berbasis data dummy dan human-in-the-loop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01 / 10</a:t>
            </a:r>
          </a:p>
        </p:txBody>
      </p:sp>
    </p:spTree>
  </p:cSld>
  <p:transition spd="slow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BACKGROUND / URGENCY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Masalahnya bukan satu situs. Ini jaringan lintas kanal.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Judol-pinjol ilegal bergerak melalui konten, kontak, transaksi, aplikasi, dan laporan korban.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Rp286,84 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perputaran dana judol 2025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9080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B84D"/>
                </a:solidFill>
                <a:latin typeface="Aptos Display"/>
              </a:rPr>
              <a:t>422,1 juta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87368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transaksi judol tercatat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14032" y="1828800"/>
            <a:ext cx="333756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6912" y="196596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4D6D"/>
                </a:solidFill>
                <a:latin typeface="Aptos Display"/>
              </a:rPr>
              <a:t>12,3 juta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2359152"/>
            <a:ext cx="29260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orang melakukan deposit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337560"/>
            <a:ext cx="10835640" cy="146304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657600"/>
            <a:ext cx="402336" cy="40233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35608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Laporan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masyarakat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368296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2802636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952" y="3657600"/>
            <a:ext cx="402336" cy="4023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520440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53128" y="3858768"/>
            <a:ext cx="493776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4887468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783" y="3657600"/>
            <a:ext cx="402336" cy="402336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605271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37959" y="3858768"/>
            <a:ext cx="493777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5400000">
            <a:off x="6972299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3657600"/>
            <a:ext cx="402336" cy="4023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690104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Skor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risiko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622792" y="3858768"/>
            <a:ext cx="493775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 rot="5400000">
            <a:off x="9057132" y="3799331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9448" y="3657600"/>
            <a:ext cx="402336" cy="40233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74936" y="3611880"/>
            <a:ext cx="10058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" y="5285232"/>
            <a:ext cx="996696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F6FF"/>
                </a:solidFill>
                <a:latin typeface="Aptos Display"/>
              </a:rPr>
              <a:t>Inti gap: sinyal terlihat terpisah, sementara pelaku berpindah domain, nomor, rekening, dan aplikasi.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PPATK, Catatan Capaian Strategis Tahun 2025, 28 Jan 2026.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02 / 10</a:t>
            </a:r>
          </a:p>
        </p:txBody>
      </p:sp>
    </p:spTree>
  </p:cSld>
  <p:transition spd="slow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EXISTING SYSTEM AND GAP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Sistem existing kuat, tetapi relasi lintas ekosistem belum menjadi pusat analisis.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diposisikan sebagai sistem pendukung analisis, bukan pengganti lembaga atau proses resmi.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99632" y="1828800"/>
            <a:ext cx="5166360" cy="43708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93A8C5"/>
                </a:solidFill>
                <a:latin typeface="Aptos Display"/>
              </a:rPr>
              <a:t>Sistem Existing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993392"/>
            <a:ext cx="46634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SATPAM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382512" y="2450592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14400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Fokus domain masing-masing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2542032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Konten, laporan, transaksi, aplikasi dianalisis sebagai graph terpadu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9536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382512" y="3127248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14400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blokir, laporan, atau tindak lanjut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3218688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Output: evidence path, cluster, skor risiko, prioritas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59536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382512" y="3803904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14400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Cenderung reaktif setelah entitas ditemukan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895344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Early warning berbasis pola dan kemiripan jaringan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59536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82512" y="4480560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14400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Relasi lintas kanal sulit terlihat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4572000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Domain-WA-rekening-APK-laporan dapat ditelusuri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9536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382512" y="5157216"/>
            <a:ext cx="4800600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14400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Keputusan rawan overclaim jika otomatis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5248656"/>
            <a:ext cx="4572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EAF6FF"/>
                </a:solidFill>
                <a:latin typeface="Aptos"/>
              </a:rPr>
              <a:t>Human verification sebelum status final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Sumber: Komdigi, OJK/IASC, PPATK, dan dokumen proposal SATPAM.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03 / 10</a:t>
            </a:r>
          </a:p>
        </p:txBody>
      </p:sp>
    </p:spTree>
  </p:cSld>
  <p:transition spd="slow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RUMUSAN MASALAH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Bagaimana sinyal tersebar menjadi jalur risiko yang dapat dijelaskan?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Rumusan masalah diarahkan pada desain sistem, integrasi data, AI search, scoring, dan explainability.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5072" y="2514600"/>
            <a:ext cx="4160520" cy="107899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8" y="2779776"/>
            <a:ext cx="37033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8D9FF"/>
                </a:solidFill>
                <a:latin typeface="Aptos Display"/>
              </a:rPr>
              <a:t>Evidence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3136392"/>
            <a:ext cx="35204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EAF6FF"/>
                </a:solidFill>
                <a:latin typeface="Aptos"/>
              </a:rPr>
              <a:t>laporan -&gt; domain -&gt; WA -&gt; rekening -&gt; APK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60120" y="2139695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3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merancang graph ekosistem judol-pinjol?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23160" y="2304287"/>
            <a:ext cx="365760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183879" y="1874519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2139695"/>
            <a:ext cx="329184" cy="329184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21624" y="219456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5672" y="2048255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menghubungkan laporan, domain, rekening, APK, dan blacklist?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6080760" y="2304287"/>
            <a:ext cx="3749040" cy="749809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77240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0120" y="4334256"/>
            <a:ext cx="329184" cy="329184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4983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9903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A* dan BFS menemukan jalur risiko?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2423160" y="3054096"/>
            <a:ext cx="365760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83879" y="406908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66760" y="4334256"/>
            <a:ext cx="329184" cy="329184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21624" y="4389120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05672" y="424281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skor risiko dan prioritas dihitung?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080760" y="3054096"/>
            <a:ext cx="3749040" cy="144475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3749039" y="5074920"/>
            <a:ext cx="3246120" cy="85953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31920" y="5340096"/>
            <a:ext cx="329184" cy="329184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86783" y="5394959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0831" y="5248656"/>
            <a:ext cx="260604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EAF6FF"/>
                </a:solidFill>
                <a:latin typeface="Aptos"/>
              </a:rPr>
              <a:t>Bagaimana hasil AI tetap explainable dan diverifikasi manusia?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5394959" y="3054096"/>
            <a:ext cx="685801" cy="2450592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Rumusan masalah disarikan dari SATPAM_Latar_Belakang_Gap_Inovasi.md.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04 / 10</a:t>
            </a:r>
          </a:p>
        </p:txBody>
      </p:sp>
    </p:spTree>
  </p:cSld>
  <p:transition spd="slow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PROPOSED SOLUTION: SATPAM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SATPAM menyatukan sinyal menjadi peta risiko terverifikasi.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Alur solusi dibuat sebagai sistem pendukung analisis: indikatif, explainable, dan human-in-the-loop.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404872"/>
            <a:ext cx="438912" cy="4389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039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Input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multi-sumber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30552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5400000">
            <a:off x="2400300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487168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i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936" y="2404872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624328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Entity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04488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 rot="5400000">
            <a:off x="4174235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261104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web_craw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404872"/>
            <a:ext cx="438912" cy="4389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398264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intelligence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78424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/>
          <p:cNvSpPr/>
          <p:nvPr/>
        </p:nvSpPr>
        <p:spPr>
          <a:xfrm rot="5400000">
            <a:off x="5948172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35040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2404872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172200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A* search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+ scoring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452360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7722108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808975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2404872"/>
            <a:ext cx="438912" cy="4389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7946136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Dashboard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prioritas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226296" y="2889504"/>
            <a:ext cx="329184" cy="0"/>
          </a:xfrm>
          <a:prstGeom prst="line">
            <a:avLst/>
          </a:prstGeom>
          <a:ln w="1524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9496044" y="2830068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582912" y="2240280"/>
            <a:ext cx="1417320" cy="129844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2680" y="2404872"/>
            <a:ext cx="438912" cy="43891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720072" y="2990088"/>
            <a:ext cx="11430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Human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AF6FF"/>
                </a:solidFill>
                <a:latin typeface="Aptos"/>
              </a:rPr>
              <a:t>verification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" y="4315968"/>
            <a:ext cx="9948672" cy="713232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07008" y="4517136"/>
            <a:ext cx="95097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EAF6FF"/>
                </a:solidFill>
                <a:latin typeface="Aptos"/>
              </a:rPr>
              <a:t>Output utama: risk score, evidence path, cluster, early warning, rekomendasi prioritas, dan status review.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17320" y="5413248"/>
            <a:ext cx="923544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B84D"/>
                </a:solidFill>
                <a:latin typeface="Aptos"/>
              </a:rPr>
              <a:t>Batas aman prototype: data dummy, source `simulation_only`, masking data sensitif, dan tidak ada auto-blocking.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Konsep solusi berdasarkan SRS SATPAM bagian scope, architecture, dan human verification.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05 / 10</a:t>
            </a:r>
          </a:p>
        </p:txBody>
      </p:sp>
    </p:spTree>
  </p:cSld>
  <p:transition spd="slow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SYSTEM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Arsitektur memisahkan ingestion, graph intelligence, scoring, dan review.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Komponen dirancang modular agar prototype aman, dapat diuji, dan mudah diperluas.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184708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Input &amp; Signals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292608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303580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SATPAM Intelligence Core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160520"/>
            <a:ext cx="10835640" cy="96012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4270248"/>
            <a:ext cx="123444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38D9FF"/>
                </a:solidFill>
                <a:latin typeface="Aptos"/>
              </a:rPr>
              <a:t>Output &amp; Governance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9339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911095"/>
            <a:ext cx="310896" cy="310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45059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Form/API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3931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web_craw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1911095"/>
            <a:ext cx="310896" cy="3108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09651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Crawler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Finding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8523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911095"/>
            <a:ext cx="310896" cy="3108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74243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Traffic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115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ransaction_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911095"/>
            <a:ext cx="310896" cy="3108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8835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Transaksi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Simulasi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77072" y="1764792"/>
            <a:ext cx="132588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1911095"/>
            <a:ext cx="310896" cy="31089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034272" y="1929384"/>
            <a:ext cx="7772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Blacklist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Dummy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53312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0817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Validation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1343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246430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57860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3347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Extraction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53872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5400000">
            <a:off x="3689603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80390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5876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Dedup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764024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4914900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029200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84064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Builder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89320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6140196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254496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Neo4j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Graph DB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214616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7365492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479792" y="3054096"/>
            <a:ext cx="960120" cy="566928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34656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A*/BFS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UCS/BDS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439912" y="3337560"/>
            <a:ext cx="210312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8590788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705088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9952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Risk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Scoring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665208" y="3337560"/>
            <a:ext cx="210311" cy="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5400000">
            <a:off x="9816084" y="32781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930384" y="3054096"/>
            <a:ext cx="960120" cy="566928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985248" y="3172968"/>
            <a:ext cx="850392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AF6FF"/>
                </a:solidFill>
                <a:latin typeface="Aptos"/>
              </a:rPr>
              <a:t>+ Alert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82880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8" y="4334256"/>
            <a:ext cx="310896" cy="31089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228600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Graph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Explorer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749039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risk_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4334256"/>
            <a:ext cx="310896" cy="310896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20624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Priority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Queue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law_enforcement_ac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9008" y="4334256"/>
            <a:ext cx="310896" cy="310896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612648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Verification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Case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58952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ai_analysi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9248" y="4334256"/>
            <a:ext cx="310896" cy="3108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04672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Audit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Log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09760" y="4187952"/>
            <a:ext cx="1371600" cy="914400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public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9488" y="4334256"/>
            <a:ext cx="310896" cy="3108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966960" y="4352544"/>
            <a:ext cx="8229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Export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Report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10012680" y="2697480"/>
            <a:ext cx="0" cy="219456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/>
          <p:cNvSpPr/>
          <p:nvPr/>
        </p:nvSpPr>
        <p:spPr>
          <a:xfrm rot="10800000">
            <a:off x="9953244" y="2857500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10012680" y="3657600"/>
            <a:ext cx="0" cy="502920"/>
          </a:xfrm>
          <a:prstGeom prst="line">
            <a:avLst/>
          </a:prstGeom>
          <a:ln w="1270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/>
          <p:cNvSpPr/>
          <p:nvPr/>
        </p:nvSpPr>
        <p:spPr>
          <a:xfrm rot="10800000">
            <a:off x="9953244" y="4101083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visuals/system_architecture.mmd | Diagram PPTX digambar sebagai shape editable.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06 / 10</a:t>
            </a:r>
          </a:p>
        </p:txBody>
      </p:sp>
    </p:spTree>
  </p:cSld>
  <p:transition spd="slow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METHOD /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Pipeline metode berjalan dari data dummy sampai rekomendasi prioritas.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Metode menggabungkan graph database, AI search, rule-based risk scoring, dan review manusia.</a:t>
            </a:r>
          </a:p>
        </p:txBody>
      </p:sp>
      <p:sp>
        <p:nvSpPr>
          <p:cNvPr id="32" name="Oval 31"/>
          <p:cNvSpPr/>
          <p:nvPr/>
        </p:nvSpPr>
        <p:spPr>
          <a:xfrm>
            <a:off x="960120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Input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Data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laporan, crawler,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transaksi simulasi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39903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186080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87752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7004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658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Extract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URL, domain,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WA, rekening, APK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026664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3488436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15384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97680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4216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Normalize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13632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masking,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dedup entity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654296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5116068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3016" y="2221991"/>
            <a:ext cx="402336" cy="402336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5312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1848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Graph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1264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node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relationship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281928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5400000">
            <a:off x="6743699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70648" y="2221991"/>
            <a:ext cx="402336" cy="402336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52944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68896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A*, BFS,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UCS, BDS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909560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8371332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098280" y="2221991"/>
            <a:ext cx="402336" cy="402336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80576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97112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Score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6528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rule-based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risk score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537192" y="2423160"/>
            <a:ext cx="521208" cy="0"/>
          </a:xfrm>
          <a:prstGeom prst="line">
            <a:avLst/>
          </a:prstGeom>
          <a:ln w="1397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/>
          <p:cNvSpPr/>
          <p:nvPr/>
        </p:nvSpPr>
        <p:spPr>
          <a:xfrm rot="5400000">
            <a:off x="9998964" y="2363724"/>
            <a:ext cx="118872" cy="118872"/>
          </a:xfrm>
          <a:prstGeom prst="triangl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725911" y="2221991"/>
            <a:ext cx="402336" cy="402336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08208" y="2304288"/>
            <a:ext cx="2286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6142B"/>
                </a:solidFill>
                <a:latin typeface="Aptos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24744" y="2816352"/>
            <a:ext cx="914400" cy="42062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AF6FF"/>
                </a:solidFill>
                <a:latin typeface="Aptos"/>
              </a:rPr>
              <a:t>Review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24160" y="3364992"/>
            <a:ext cx="109728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path bukti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93A8C5"/>
                </a:solidFill>
                <a:latin typeface="Aptos"/>
              </a:rPr>
              <a:t>human approval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6012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4300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DC97"/>
                </a:solidFill>
                <a:latin typeface="Aptos Display"/>
              </a:rPr>
              <a:t>Safety by design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728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data dummy, no live interception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2628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0916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D9FF"/>
                </a:solidFill>
                <a:latin typeface="Aptos Display"/>
              </a:rPr>
              <a:t>Explainable output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rule aktif + evidence path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092440" y="4572000"/>
            <a:ext cx="3017520" cy="80467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75320" y="4736592"/>
            <a:ext cx="265176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B84D"/>
                </a:solidFill>
                <a:latin typeface="Aptos Display"/>
              </a:rPr>
              <a:t>Human-in-the-loop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29600" y="5029200"/>
            <a:ext cx="269748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EAF6FF"/>
                </a:solidFill>
                <a:latin typeface="Aptos"/>
              </a:rPr>
              <a:t>candidate dulu, approval kemudian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Mermaid source: visuals/data_flow.mmd dan visuals/risk_scoring_pipeline.mmd.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07 / 10</a:t>
            </a:r>
          </a:p>
        </p:txBody>
      </p:sp>
    </p:spTree>
  </p:cSld>
  <p:transition spd="slow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INNOVATION / NOVELTY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Novelty SATPAM: network-based intelligence yang explainable.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Perbedaan utama bukan hanya deteksi, tetapi pemetaan hubungan dan prioritas berbasis graph risk.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37360"/>
            <a:ext cx="8092440" cy="448056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1938528"/>
            <a:ext cx="13716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93A8C5"/>
                </a:solidFill>
                <a:latin typeface="Aptos"/>
              </a:rPr>
              <a:t>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00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Explain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84848" y="1938528"/>
            <a:ext cx="77724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41248" y="2313432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8680" y="2450592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Data tersebar</a:t>
            </a:r>
          </a:p>
        </p:txBody>
      </p:sp>
      <p:sp>
        <p:nvSpPr>
          <p:cNvPr id="41" name="Oval 40"/>
          <p:cNvSpPr/>
          <p:nvPr/>
        </p:nvSpPr>
        <p:spPr>
          <a:xfrm>
            <a:off x="303580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04164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8406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53328" y="2459736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095744" y="2496312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841248" y="2971800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68680" y="3108960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Sistem reaktif</a:t>
            </a:r>
          </a:p>
        </p:txBody>
      </p:sp>
      <p:sp>
        <p:nvSpPr>
          <p:cNvPr id="48" name="Oval 47"/>
          <p:cNvSpPr/>
          <p:nvPr/>
        </p:nvSpPr>
        <p:spPr>
          <a:xfrm>
            <a:off x="303580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04164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04748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089904" y="3154680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059168" y="3118104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841248" y="3630168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8680" y="3767328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Identitas mudah berganti</a:t>
            </a:r>
          </a:p>
        </p:txBody>
      </p:sp>
      <p:sp>
        <p:nvSpPr>
          <p:cNvPr id="55" name="Oval 54"/>
          <p:cNvSpPr/>
          <p:nvPr/>
        </p:nvSpPr>
        <p:spPr>
          <a:xfrm>
            <a:off x="303580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04164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4748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53328" y="3776472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095744" y="3813048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41248" y="4288536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8680" y="4425696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Judol-pinjol terpisah</a:t>
            </a:r>
          </a:p>
        </p:txBody>
      </p:sp>
      <p:sp>
        <p:nvSpPr>
          <p:cNvPr id="62" name="Oval 61"/>
          <p:cNvSpPr/>
          <p:nvPr/>
        </p:nvSpPr>
        <p:spPr>
          <a:xfrm>
            <a:off x="303580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04164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04748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053328" y="4434840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95744" y="4471416"/>
            <a:ext cx="109728" cy="10972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841248" y="4946904"/>
            <a:ext cx="7644384" cy="0"/>
          </a:xfrm>
          <a:prstGeom prst="line">
            <a:avLst/>
          </a:prstGeom>
          <a:ln w="635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68680" y="5084064"/>
            <a:ext cx="187451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EAF6FF"/>
                </a:solidFill>
                <a:latin typeface="Aptos"/>
              </a:rPr>
              <a:t>Output sulit dijelaskan</a:t>
            </a:r>
          </a:p>
        </p:txBody>
      </p:sp>
      <p:sp>
        <p:nvSpPr>
          <p:cNvPr id="69" name="Oval 68"/>
          <p:cNvSpPr/>
          <p:nvPr/>
        </p:nvSpPr>
        <p:spPr>
          <a:xfrm>
            <a:off x="303580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04164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4748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05332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059168" y="5093208"/>
            <a:ext cx="182880" cy="182880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070848" y="1737360"/>
            <a:ext cx="2331720" cy="4480560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08592" y="2057400"/>
            <a:ext cx="1874519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38D9FF"/>
                </a:solidFill>
                <a:latin typeface="Aptos Display"/>
              </a:rPr>
              <a:t>Inovasi inti</a:t>
            </a:r>
          </a:p>
        </p:txBody>
      </p:sp>
      <p:sp>
        <p:nvSpPr>
          <p:cNvPr id="76" name="Oval 75"/>
          <p:cNvSpPr/>
          <p:nvPr/>
        </p:nvSpPr>
        <p:spPr>
          <a:xfrm>
            <a:off x="9253728" y="29169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64040" y="28895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Graph intelligence lintas entitas</a:t>
            </a:r>
          </a:p>
        </p:txBody>
      </p:sp>
      <p:sp>
        <p:nvSpPr>
          <p:cNvPr id="78" name="Oval 77"/>
          <p:cNvSpPr/>
          <p:nvPr/>
        </p:nvSpPr>
        <p:spPr>
          <a:xfrm>
            <a:off x="9253728" y="3374136"/>
            <a:ext cx="109728" cy="10972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64040" y="33467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A* risk path untuk prioritas</a:t>
            </a:r>
          </a:p>
        </p:txBody>
      </p:sp>
      <p:sp>
        <p:nvSpPr>
          <p:cNvPr id="80" name="Oval 79"/>
          <p:cNvSpPr/>
          <p:nvPr/>
        </p:nvSpPr>
        <p:spPr>
          <a:xfrm>
            <a:off x="9253728" y="3831336"/>
            <a:ext cx="109728" cy="10972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4040" y="38039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Judol-pinjol linkage detection</a:t>
            </a:r>
          </a:p>
        </p:txBody>
      </p:sp>
      <p:sp>
        <p:nvSpPr>
          <p:cNvPr id="82" name="Oval 81"/>
          <p:cNvSpPr/>
          <p:nvPr/>
        </p:nvSpPr>
        <p:spPr>
          <a:xfrm>
            <a:off x="9253728" y="4288536"/>
            <a:ext cx="109728" cy="10972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464040" y="42611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Rule score yang bisa dijelaskan</a:t>
            </a:r>
          </a:p>
        </p:txBody>
      </p:sp>
      <p:sp>
        <p:nvSpPr>
          <p:cNvPr id="84" name="Oval 83"/>
          <p:cNvSpPr/>
          <p:nvPr/>
        </p:nvSpPr>
        <p:spPr>
          <a:xfrm>
            <a:off x="9253728" y="4745736"/>
            <a:ext cx="109728" cy="10972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64040" y="4718304"/>
            <a:ext cx="173736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EAF6FF"/>
                </a:solidFill>
                <a:latin typeface="Aptos"/>
              </a:rPr>
              <a:t>Human verification by design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Novelty disarikan dari SATPAM_Latar_Belakang_Gap_Inovasi.md bagian Gap dan Inovasi.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08 / 10</a:t>
            </a:r>
          </a:p>
        </p:txBody>
      </p:sp>
    </p:spTree>
  </p:cSld>
  <p:transition spd="slow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BENEFITS AND IMPLEMENTATION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713232"/>
            <a:ext cx="7863840" cy="6766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AF6FF"/>
                </a:solidFill>
                <a:latin typeface="Aptos Display"/>
              </a:rPr>
              <a:t>Manfaat analitik jelas, roadmap prototype tetap realistis.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1307592"/>
            <a:ext cx="7315200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93A8C5"/>
                </a:solidFill>
                <a:latin typeface="Aptos"/>
              </a:rPr>
              <a:t>SATPAM memberi prioritas dan jalur bukti tanpa mengambil alih keputusan manusia.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719072"/>
            <a:ext cx="3840480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1975104"/>
            <a:ext cx="33832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Manfaat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" y="2660904"/>
            <a:ext cx="201168" cy="201168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2615184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Prioritas kasus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" y="2862072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analis fokus pada risiko tertinggi</a:t>
            </a:r>
          </a:p>
        </p:txBody>
      </p:sp>
      <p:sp>
        <p:nvSpPr>
          <p:cNvPr id="37" name="Oval 36"/>
          <p:cNvSpPr/>
          <p:nvPr/>
        </p:nvSpPr>
        <p:spPr>
          <a:xfrm>
            <a:off x="841248" y="3410712"/>
            <a:ext cx="201168" cy="201168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3364991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Evidence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3611879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alasan risiko dapat ditelusuri</a:t>
            </a:r>
          </a:p>
        </p:txBody>
      </p:sp>
      <p:sp>
        <p:nvSpPr>
          <p:cNvPr id="40" name="Oval 39"/>
          <p:cNvSpPr/>
          <p:nvPr/>
        </p:nvSpPr>
        <p:spPr>
          <a:xfrm>
            <a:off x="841248" y="4160520"/>
            <a:ext cx="201168" cy="201168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4114800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Cluster jaringan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" y="4361688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melihat node pusat dan relasi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" y="4910328"/>
            <a:ext cx="201168" cy="201168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70432" y="4864608"/>
            <a:ext cx="30175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F6FF"/>
                </a:solidFill>
                <a:latin typeface="Aptos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111496"/>
            <a:ext cx="30175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93A8C5"/>
                </a:solidFill>
                <a:latin typeface="Aptos"/>
              </a:rPr>
              <a:t>candidate, review, audit log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00600" y="1719072"/>
            <a:ext cx="6601968" cy="45262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47488" y="1975104"/>
            <a:ext cx="384048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8D9FF"/>
                </a:solidFill>
                <a:latin typeface="Aptos Display"/>
              </a:rPr>
              <a:t>Roadmap Prototype</a:t>
            </a:r>
          </a:p>
        </p:txBody>
      </p:sp>
      <p:sp>
        <p:nvSpPr>
          <p:cNvPr id="48" name="Oval 47"/>
          <p:cNvSpPr/>
          <p:nvPr/>
        </p:nvSpPr>
        <p:spPr>
          <a:xfrm>
            <a:off x="5102352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394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01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18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Foundation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7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schema, Docker, seed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2660903"/>
            <a:ext cx="256032" cy="256032"/>
          </a:xfrm>
          <a:prstGeom prst="ellipse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6537959" y="2788920"/>
            <a:ext cx="804672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44768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F2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1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Data + Graph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70448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extract, normalize, Neo4j</a:t>
            </a:r>
          </a:p>
        </p:txBody>
      </p:sp>
      <p:sp>
        <p:nvSpPr>
          <p:cNvPr id="58" name="Oval 57"/>
          <p:cNvSpPr/>
          <p:nvPr/>
        </p:nvSpPr>
        <p:spPr>
          <a:xfrm>
            <a:off x="7388351" y="2660903"/>
            <a:ext cx="256032" cy="256032"/>
          </a:xfrm>
          <a:prstGeom prst="ellipse">
            <a:avLst/>
          </a:prstGeom>
          <a:solidFill>
            <a:srgbClr val="FFB84D"/>
          </a:solidFill>
          <a:ln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7680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287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B84D"/>
                </a:solidFill>
                <a:latin typeface="Aptos"/>
              </a:rPr>
              <a:t>F3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04887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Search + Scoring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A*, BFS, rules, alert</a:t>
            </a:r>
          </a:p>
        </p:txBody>
      </p:sp>
      <p:sp>
        <p:nvSpPr>
          <p:cNvPr id="63" name="Oval 62"/>
          <p:cNvSpPr/>
          <p:nvPr/>
        </p:nvSpPr>
        <p:spPr>
          <a:xfrm>
            <a:off x="8531351" y="2660903"/>
            <a:ext cx="256032" cy="256032"/>
          </a:xfrm>
          <a:prstGeom prst="ellipse">
            <a:avLst/>
          </a:prstGeom>
          <a:solidFill>
            <a:srgbClr val="FF4D6D"/>
          </a:solidFill>
          <a:ln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823959" y="2788920"/>
            <a:ext cx="804673" cy="0"/>
          </a:xfrm>
          <a:prstGeom prst="line">
            <a:avLst/>
          </a:prstGeom>
          <a:ln w="1778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430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4D6D"/>
                </a:solidFill>
                <a:latin typeface="Aptos"/>
              </a:rPr>
              <a:t>F4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47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Dashboard + Review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graph explorer, cases</a:t>
            </a:r>
          </a:p>
        </p:txBody>
      </p:sp>
      <p:sp>
        <p:nvSpPr>
          <p:cNvPr id="68" name="Oval 67"/>
          <p:cNvSpPr/>
          <p:nvPr/>
        </p:nvSpPr>
        <p:spPr>
          <a:xfrm>
            <a:off x="9674351" y="2660903"/>
            <a:ext cx="256032" cy="256032"/>
          </a:xfrm>
          <a:prstGeom prst="ellipse">
            <a:avLst/>
          </a:prstGeom>
          <a:solidFill>
            <a:srgbClr val="3DDC97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73767" y="3118103"/>
            <a:ext cx="45720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DDC97"/>
                </a:solidFill>
                <a:latin typeface="Aptos"/>
              </a:rPr>
              <a:t>F5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90888" y="3410712"/>
            <a:ext cx="82296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EAF6FF"/>
                </a:solidFill>
                <a:latin typeface="Aptos"/>
              </a:rPr>
              <a:t>Testing + Demo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9447" y="3813048"/>
            <a:ext cx="1005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93A8C5"/>
                </a:solidFill>
                <a:latin typeface="Aptos"/>
              </a:rPr>
              <a:t>pytest, UI smoke, script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321808" y="5230368"/>
            <a:ext cx="5394960" cy="438912"/>
          </a:xfrm>
          <a:prstGeom prst="roundRect">
            <a:avLst/>
          </a:prstGeom>
          <a:solidFill>
            <a:srgbClr val="0B2547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577840" y="5340096"/>
            <a:ext cx="4892040" cy="1645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AF6FF"/>
                </a:solidFill>
                <a:latin typeface="Aptos"/>
              </a:rPr>
              <a:t>Target MVP: 1.000 node, 5.000 relationship, dashboard &lt; 3 detik pada dataset prototype.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Roadmap berdasarkan SRS SATPAM fase implementasi prototype.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09 / 10</a:t>
            </a:r>
          </a:p>
        </p:txBody>
      </p:sp>
    </p:spTree>
  </p:cSld>
  <p:transition spd="slow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6142B"/>
          </a:solidFill>
          <a:ln>
            <a:solidFill>
              <a:srgbClr val="0614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972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1945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3891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58368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77824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87552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0" y="219456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329184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0" y="438912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509760" y="502920"/>
            <a:ext cx="160020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109960" y="502920"/>
            <a:ext cx="0" cy="54864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287000" y="1051560"/>
            <a:ext cx="822960" cy="0"/>
          </a:xfrm>
          <a:prstGeom prst="line">
            <a:avLst/>
          </a:prstGeom>
          <a:ln w="10160">
            <a:solidFill>
              <a:srgbClr val="173A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4777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77956" y="47091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7795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54996" y="1019556"/>
            <a:ext cx="64008" cy="64008"/>
          </a:xfrm>
          <a:prstGeom prst="ellipse">
            <a:avLst/>
          </a:prstGeom>
          <a:solidFill>
            <a:srgbClr val="173A62"/>
          </a:solidFill>
          <a:ln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  <p:sp>
        <p:nvSpPr>
          <p:cNvPr id="28" name="kicker-marker"/>
          <p:cNvSpPr/>
          <p:nvPr/>
        </p:nvSpPr>
        <p:spPr>
          <a:xfrm>
            <a:off x="530352" y="402336"/>
            <a:ext cx="109728" cy="109728"/>
          </a:xfrm>
          <a:prstGeom prst="rect">
            <a:avLst/>
          </a:prstGeom>
          <a:solidFill>
            <a:srgbClr val="38D9FF"/>
          </a:solidFill>
          <a:ln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kicker-label"/>
          <p:cNvSpPr txBox="1"/>
          <p:nvPr/>
        </p:nvSpPr>
        <p:spPr>
          <a:xfrm>
            <a:off x="713232" y="329184"/>
            <a:ext cx="35661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8D9FF"/>
                </a:solidFill>
                <a:latin typeface="Aptos"/>
              </a:rPr>
              <a:t>CLOSING AND REFERENCES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960120"/>
            <a:ext cx="7223760" cy="7863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AF6FF"/>
                </a:solidFill>
                <a:latin typeface="Aptos Display"/>
              </a:rPr>
              <a:t>SATPAM membaca ancaman sebagai jaringan risiko.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1847088"/>
            <a:ext cx="653796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3A8C5"/>
                </a:solidFill>
                <a:latin typeface="Aptos"/>
              </a:rPr>
              <a:t>Bukan alat vonis otomatis, melainkan decision-support untuk mendeteksi, memetakan, menjelaskan, memprioritaskan, dan memverifikasi.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Detect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2082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397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DDC97"/>
                </a:solidFill>
                <a:latin typeface="Aptos"/>
              </a:rPr>
              <a:t>Map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5526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B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B84D"/>
                </a:solidFill>
                <a:latin typeface="Aptos"/>
              </a:rPr>
              <a:t>Explain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970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FF4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285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4D6D"/>
                </a:solidFill>
                <a:latin typeface="Aptos"/>
              </a:rPr>
              <a:t>Prioritize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24144" y="2788920"/>
            <a:ext cx="1051560" cy="310896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843784"/>
            <a:ext cx="905255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Verify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" y="3730752"/>
            <a:ext cx="6263640" cy="1170432"/>
          </a:xfrm>
          <a:prstGeom prst="roundRect">
            <a:avLst/>
          </a:prstGeom>
          <a:solidFill>
            <a:srgbClr val="0D315D"/>
          </a:solidFill>
          <a:ln w="12700">
            <a:solidFill>
              <a:srgbClr val="38D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4128" y="3968496"/>
            <a:ext cx="580644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EAF6FF"/>
                </a:solidFill>
                <a:latin typeface="Aptos Display"/>
              </a:rPr>
              <a:t>Thesis: graph search + risk scoring + human verification dapat membuat analisis judol-pinjol lebih terhubung, transparan, dan prioritas.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35240" y="1005840"/>
            <a:ext cx="3611880" cy="4983480"/>
          </a:xfrm>
          <a:prstGeom prst="roundRect">
            <a:avLst/>
          </a:prstGeom>
          <a:solidFill>
            <a:srgbClr val="081B36"/>
          </a:solidFill>
          <a:ln w="12700">
            <a:solidFill>
              <a:srgbClr val="173A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7" y="1261872"/>
            <a:ext cx="30175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38D9FF"/>
                </a:solidFill>
                <a:latin typeface="Aptos Display"/>
              </a:rPr>
              <a:t>Referensi utama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7" y="178308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[1] PPATK, Catatan Capaian Strategis 2025, 2026.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2127" y="2350008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[2] Komdigi, laporan pemblokiran rekening judol, 2025.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82127" y="2916936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[3] OJK, Indonesia Anti-Scam Centre, 2026.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3483863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[4] OJK, Waspada Pinjaman Online Ilegal.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82127" y="4050791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[5]-[8] Neo4j Documentation: graph concepts, path finding, BFS, centrality.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4617720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EAF6FF"/>
                </a:solidFill>
                <a:latin typeface="Aptos"/>
              </a:rPr>
              <a:t>[9]-[11] SRS dan dokumen proposal SATPAM lokal.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0352" y="6446520"/>
            <a:ext cx="11128248" cy="0"/>
          </a:xfrm>
          <a:prstGeom prst="line">
            <a:avLst/>
          </a:prstGeom>
          <a:ln w="8890">
            <a:solidFill>
              <a:srgbClr val="1234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30352" y="6501384"/>
            <a:ext cx="804672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93A8C5"/>
                </a:solidFill>
                <a:latin typeface="Aptos"/>
              </a:rPr>
              <a:t>Daftar lengkap tersedia di references.md.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0" y="6473952"/>
            <a:ext cx="8686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8D9FF"/>
                </a:solidFill>
                <a:latin typeface="Aptos"/>
              </a:rPr>
              <a:t>10 / 10</a:t>
            </a:r>
          </a:p>
        </p:txBody>
      </p:sp>
    </p:spTree>
  </p:cSld>
  <p:transition spd="slow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