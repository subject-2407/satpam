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1" y="-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3088F-BAAE-4187-997C-66DE15C33ED9}" type="datetimeFigureOut">
              <a:rPr lang="en-ID" smtClean="0"/>
              <a:t>04/06/2026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56764-BC66-4FEF-840D-CF6FF7AF90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278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mengusulkan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**SATPAM**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singkatan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**Search-based AI Threat Prevention and Mapping**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Ide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membangun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AI-assisted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intelligence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mendeteksi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memetakan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memprioritaskan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ekosistem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online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online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diposisikan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decision-support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hubungan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meminta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sebelum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791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situs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saja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PPATK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mencatat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perputaran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mencapai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Rp286,84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triliun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422,1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12,3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deposit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bank, e-wallet, dan QRIS. Ini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menunjukkan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WhatsApp,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QRIS, e-wallet, APK,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masyarakat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Kalau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sendiri-sendiri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besarnya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sulit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urgensi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495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Indonesia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sebenarnya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memiliki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lembaga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Komdigi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pemblokiran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digital, OJK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Satgas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PASTI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aktivitas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keuangan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IASC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keuangan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PPATK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mencurigakan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kepolisian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penegakan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Gap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diambil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menggantikan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potongan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existing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domain masing-masing,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sedangkan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menambahkan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link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mengarah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domain mana, domain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apakah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1070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Rumusan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diringkas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pertanyaan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search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memetakan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ekosistem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judol-pinjol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WhatsApp,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APK, crawler finding,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blacklist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database.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menerapkan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searching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Bi-Directional Search,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menemukan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menghitung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dijelaskan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dipahami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07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menjawab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sumber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Input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berasal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masyarakat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crawler finding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legal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berizin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indikator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blacklist dummy, dan data APK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 extraction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mengambil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keyword, QRIS, e-wallet, dan APK.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dinormalisasi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dibangun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menelusuri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rule-based risk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menghitung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tingkat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dipakai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heuristic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Dashboard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path. Hasil high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critical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blacklist candidate,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blokir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507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Arsitektur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input: report form, API, import dataset dummy, crawler finding, traffic log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ingestion dan processing: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extraction, normalization, deduplication, dan graph builder.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intelligence core: Neo4j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database, BFS dan rule-based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BDS,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ditambah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early warning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explanation engine.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terakhir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dan verification workflow.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cluster,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rekomendasi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audit log,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 verification.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4613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Pipeline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dimulai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 extraction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regex dan rule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sederhana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dinormalisasi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disamarkan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dideduplicate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Graph builder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dan relationship.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terdekat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evidence path,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sementara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Bi-Directional Search,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diposisikan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bobot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edge, dan heuristic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terdokumentasi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Output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score, explanation, early warning, dashboard, dan review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9265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Novelty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perubahan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entity-based detection,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melainkan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network-based intelligence.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graph intelligence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menyatukan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finansial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search-based risk path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ditelusuri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judol-pinjol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linkage detection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mencoba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hubungan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kerugian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tawaran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risk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menentukan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explainable detection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label,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menjawab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kenapa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sebuah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dianggap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novelty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human-in-the-loop: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kandidat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sedangkan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4968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Manfaat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memprioritaskan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kasus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mengurangi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salah tafsir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human-in-the-loop. Roadmap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foundation dan schema data; data ingestion dan graph builder; search dan scoring; dashboard dan verification;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dan demo.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roadmap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kompetitif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teknologi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overclaim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pada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dummy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auto-blocking.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7944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penutup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diringkas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kata: detect, map, explain, prioritize, verify.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membaca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judol-pinjol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Kontribusinya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menyatukan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crawler finding,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indikator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blacklist, graph search, risk scoring, dan dashboard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konsep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explainable.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berasal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PPATK,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Komdigi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OJK/IASC,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Neo4j,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SRS dan proposal SATPAM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basis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rancangan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662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01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PROPOSAL / AI SECURITY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960120"/>
            <a:ext cx="51206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AF6FF"/>
                </a:solidFill>
                <a:latin typeface="Aptos Display"/>
              </a:rPr>
              <a:t>SATPAM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1664208"/>
            <a:ext cx="484632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D9FF"/>
                </a:solidFill>
                <a:latin typeface="Aptos"/>
              </a:rPr>
              <a:t>Search-based AI Threat Prevention and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304288"/>
            <a:ext cx="46634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3A8C5"/>
                </a:solidFill>
                <a:latin typeface="Aptos"/>
              </a:rPr>
              <a:t>Sistem graph intelligence untuk deteksi, pemetaan, dan prioritisasi risiko ekosistem judol-pinjol ilegal.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583680" y="868680"/>
            <a:ext cx="1737360" cy="54864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868680"/>
            <a:ext cx="1645920" cy="68580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680" y="1417320"/>
            <a:ext cx="914399" cy="13258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79" y="2743200"/>
            <a:ext cx="2011681" cy="411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509760" y="1554480"/>
            <a:ext cx="457200" cy="160020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172200" y="2743200"/>
            <a:ext cx="1325879" cy="118872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72200" y="3931920"/>
            <a:ext cx="2240280" cy="77724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412480" y="3154680"/>
            <a:ext cx="1097280" cy="1554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1040" y="868680"/>
            <a:ext cx="91440" cy="3840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432804" y="1266444"/>
            <a:ext cx="301752" cy="30175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9632" y="161848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Report</a:t>
            </a:r>
          </a:p>
        </p:txBody>
      </p:sp>
      <p:sp>
        <p:nvSpPr>
          <p:cNvPr id="44" name="Oval 43"/>
          <p:cNvSpPr/>
          <p:nvPr/>
        </p:nvSpPr>
        <p:spPr>
          <a:xfrm>
            <a:off x="8170164" y="717803"/>
            <a:ext cx="301752" cy="30175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36992" y="10698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Domain</a:t>
            </a:r>
          </a:p>
        </p:txBody>
      </p:sp>
      <p:sp>
        <p:nvSpPr>
          <p:cNvPr id="46" name="Oval 45"/>
          <p:cNvSpPr/>
          <p:nvPr/>
        </p:nvSpPr>
        <p:spPr>
          <a:xfrm>
            <a:off x="9816084" y="1403604"/>
            <a:ext cx="301752" cy="30175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582912" y="17556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WA</a:t>
            </a:r>
          </a:p>
        </p:txBody>
      </p:sp>
      <p:sp>
        <p:nvSpPr>
          <p:cNvPr id="48" name="Oval 47"/>
          <p:cNvSpPr/>
          <p:nvPr/>
        </p:nvSpPr>
        <p:spPr>
          <a:xfrm>
            <a:off x="7347204" y="2592324"/>
            <a:ext cx="301752" cy="301752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14031" y="294436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Rekening</a:t>
            </a:r>
          </a:p>
        </p:txBody>
      </p:sp>
      <p:sp>
        <p:nvSpPr>
          <p:cNvPr id="50" name="Oval 49"/>
          <p:cNvSpPr/>
          <p:nvPr/>
        </p:nvSpPr>
        <p:spPr>
          <a:xfrm>
            <a:off x="9358884" y="3003804"/>
            <a:ext cx="301752" cy="30175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33558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APK</a:t>
            </a:r>
          </a:p>
        </p:txBody>
      </p:sp>
      <p:sp>
        <p:nvSpPr>
          <p:cNvPr id="52" name="Oval 51"/>
          <p:cNvSpPr/>
          <p:nvPr/>
        </p:nvSpPr>
        <p:spPr>
          <a:xfrm>
            <a:off x="6021324" y="3781044"/>
            <a:ext cx="301752" cy="30175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88152" y="4133087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Blacklist</a:t>
            </a:r>
          </a:p>
        </p:txBody>
      </p:sp>
      <p:sp>
        <p:nvSpPr>
          <p:cNvPr id="54" name="Oval 53"/>
          <p:cNvSpPr/>
          <p:nvPr/>
        </p:nvSpPr>
        <p:spPr>
          <a:xfrm>
            <a:off x="8261604" y="4558284"/>
            <a:ext cx="301752" cy="30175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28431" y="491032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Dashboard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4944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Detect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82495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755648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DDC97"/>
                </a:solidFill>
                <a:latin typeface="Aptos"/>
              </a:rPr>
              <a:t>Map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16352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B84D"/>
                </a:solidFill>
                <a:latin typeface="Aptos"/>
              </a:rPr>
              <a:t>Explain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03903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77055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4D6D"/>
                </a:solidFill>
                <a:latin typeface="Aptos"/>
              </a:rPr>
              <a:t>Prioritize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64607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37759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Verify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" y="4919472"/>
            <a:ext cx="4526280" cy="65836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" y="5074920"/>
            <a:ext cx="41148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EAF6FF"/>
                </a:solidFill>
                <a:latin typeface="Aptos"/>
              </a:rPr>
              <a:t>Graph Search + Risk Scoring + Human Verification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Proposal SATPAM | Prototype berbasis data dummy dan human-in-the-loop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02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BACKGROUND /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Masalahnya bukan satu situs. Ini jaringan lintas kanal.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1307592"/>
            <a:ext cx="7315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3A8C5"/>
                </a:solidFill>
                <a:latin typeface="Aptos"/>
              </a:rPr>
              <a:t>Judol-pinjol ilegal bergerak melalui konten, kontak, transaksi, aplikasi, dan laporan korban.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D9FF"/>
                </a:solidFill>
                <a:latin typeface="Aptos Display"/>
              </a:rPr>
              <a:t>Rp286,84 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perputaran dana judol 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69080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84D"/>
                </a:solidFill>
                <a:latin typeface="Aptos Display"/>
              </a:rPr>
              <a:t>422,1 juta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transaksi judol tercatat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14032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96912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4D6D"/>
                </a:solidFill>
                <a:latin typeface="Aptos Display"/>
              </a:rPr>
              <a:t>12,3 juta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orang melakukan deposit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337560"/>
            <a:ext cx="10835640" cy="146304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402336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35608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Laporan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masyarakat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68296" y="3858768"/>
            <a:ext cx="493776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2802636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web_craw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3657600"/>
            <a:ext cx="402336" cy="40233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20440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Crawler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finding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53128" y="3858768"/>
            <a:ext cx="493776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4887468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3" y="3657600"/>
            <a:ext cx="402336" cy="40233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05271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Transaksi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37959" y="3858768"/>
            <a:ext cx="493777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6972299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3657600"/>
            <a:ext cx="402336" cy="40233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90104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Skor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risiko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622792" y="3858768"/>
            <a:ext cx="493775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9057132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3657600"/>
            <a:ext cx="402336" cy="40233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74936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prioritas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" y="5285232"/>
            <a:ext cx="996696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F6FF"/>
                </a:solidFill>
                <a:latin typeface="Aptos Display"/>
              </a:rPr>
              <a:t>Inti gap: sinyal terlihat terpisah, sementara pelaku berpindah domain, nomor, rekening, dan aplikasi.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Sumber: PPATK, Catatan Capaian Strategis Tahun 2025, 28 Jan 2026.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8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-1372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03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EXISTING SYSTEM AND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713232"/>
            <a:ext cx="7955279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EAF6FF"/>
                </a:solidFill>
                <a:latin typeface="Aptos Display"/>
              </a:rPr>
              <a:t>Sistem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existing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kuat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,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tetapi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relasi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lintas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ekosistem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belum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menjadi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pusat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analisis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1636892"/>
            <a:ext cx="7315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SATPAM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diposisikan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sebagai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sistem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pendukung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analisis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bukan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pengganti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lembaga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atau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proses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resmi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2194560"/>
            <a:ext cx="5166360" cy="400507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99632" y="2194560"/>
            <a:ext cx="5166360" cy="400507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056" y="2437720"/>
            <a:ext cx="46634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93A8C5"/>
                </a:solidFill>
                <a:latin typeface="Aptos Display"/>
              </a:rPr>
              <a:t>Sistem</a:t>
            </a:r>
            <a:r>
              <a:rPr sz="1800" b="1" dirty="0">
                <a:solidFill>
                  <a:srgbClr val="93A8C5"/>
                </a:solidFill>
                <a:latin typeface="Aptos Display"/>
              </a:rPr>
              <a:t> Existing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414016"/>
            <a:ext cx="46634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8D9FF"/>
                </a:solidFill>
                <a:latin typeface="Aptos Display"/>
              </a:rPr>
              <a:t>SATPAM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974768" y="2894920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9088" y="2871216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9632" y="2986360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Fokus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domain masing-masing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962656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Konten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transaksi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aplikasi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dianalisis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sebagai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graph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terpadu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cxnSp>
        <p:nvCxnSpPr>
          <p:cNvPr id="40" name="Connector 39"/>
          <p:cNvCxnSpPr>
            <a:cxnSpLocks/>
          </p:cNvCxnSpPr>
          <p:nvPr/>
        </p:nvCxnSpPr>
        <p:spPr>
          <a:xfrm>
            <a:off x="974768" y="3571576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19088" y="3547872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29632" y="3663016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Output: blokir, laporan, atau tindak lanjut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639312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Output: evidence path, cluster, skor risiko, prioritas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974768" y="4248232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19088" y="4224528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29632" y="4339672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Cenderung reaktif setelah entitas ditemukan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315968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Early warning berbasis pola dan kemiripan jaringan</a:t>
            </a:r>
          </a:p>
        </p:txBody>
      </p:sp>
      <p:cxnSp>
        <p:nvCxnSpPr>
          <p:cNvPr id="48" name="Connector 47"/>
          <p:cNvCxnSpPr>
            <a:cxnSpLocks/>
          </p:cNvCxnSpPr>
          <p:nvPr/>
        </p:nvCxnSpPr>
        <p:spPr>
          <a:xfrm>
            <a:off x="974768" y="4924888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19088" y="4901184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29632" y="5016328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Relasi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lintas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kanal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sulit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terlihat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73952" y="4992624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>
                <a:solidFill>
                  <a:srgbClr val="EAF6FF"/>
                </a:solidFill>
                <a:latin typeface="Aptos"/>
              </a:rPr>
              <a:t>Domain-WA-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rekening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-APK-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dapat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ditelusuri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cxnSp>
        <p:nvCxnSpPr>
          <p:cNvPr id="52" name="Connector 51"/>
          <p:cNvCxnSpPr>
            <a:cxnSpLocks/>
          </p:cNvCxnSpPr>
          <p:nvPr/>
        </p:nvCxnSpPr>
        <p:spPr>
          <a:xfrm>
            <a:off x="974768" y="5601544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419088" y="5577840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9632" y="5692984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Keputusan rawan overclaim jika otomatis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669280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>
                <a:solidFill>
                  <a:srgbClr val="EAF6FF"/>
                </a:solidFill>
                <a:latin typeface="Aptos"/>
              </a:rPr>
              <a:t>Human verification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sebelum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status final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Sumber: Komdigi, OJK/IASC, PPATK, dan dokumen proposal SATPAM.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04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RUMUSAN MASALAH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Bagaimana sinyal tersebar menjadi jalur risiko yang dapat dijelaskan?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7892" y="1319048"/>
            <a:ext cx="4773168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93A8C5"/>
                </a:solidFill>
                <a:latin typeface="Aptos"/>
              </a:rPr>
              <a:t>Rumusan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masalah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diarahkan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pada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desain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sistem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integrasi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data, AI search, scoring, dan explainability.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23160" y="2304287"/>
            <a:ext cx="3657600" cy="749809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7240" y="1874519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0120" y="2139695"/>
            <a:ext cx="329184" cy="329184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 flipH="1">
            <a:off x="6208776" y="2304287"/>
            <a:ext cx="3621024" cy="713234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14983" y="219456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2048255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dirty="0" err="1">
                <a:solidFill>
                  <a:srgbClr val="EAF6FF"/>
                </a:solidFill>
                <a:latin typeface="Aptos"/>
              </a:rPr>
              <a:t>Bagaimana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merancang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graph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ekosistem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judol-pinjol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1874519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66760" y="2139695"/>
            <a:ext cx="329184" cy="329184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2423160" y="3054096"/>
            <a:ext cx="3657600" cy="1444752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21624" y="219456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2048255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menghubungkan laporan, domain, rekening, APK, dan blacklist?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06908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0120" y="4334256"/>
            <a:ext cx="329184" cy="329184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4983" y="438912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9032" y="424281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BFS menampilkan evidence path?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6080760" y="3054096"/>
            <a:ext cx="3749040" cy="1444752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83879" y="406908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366760" y="4334256"/>
            <a:ext cx="329184" cy="329184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21624" y="438912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4</a:t>
            </a:r>
          </a:p>
        </p:txBody>
      </p:sp>
      <p:cxnSp>
        <p:nvCxnSpPr>
          <p:cNvPr id="59" name="Connector 58"/>
          <p:cNvCxnSpPr>
            <a:cxnSpLocks/>
            <a:endCxn id="34" idx="0"/>
          </p:cNvCxnSpPr>
          <p:nvPr/>
        </p:nvCxnSpPr>
        <p:spPr>
          <a:xfrm flipV="1">
            <a:off x="5480257" y="3493415"/>
            <a:ext cx="829103" cy="2423159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805672" y="424281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skor risiko dan prioritas dihitung?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49039" y="507492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931920" y="5340096"/>
            <a:ext cx="329184" cy="329184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6783" y="5394959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0831" y="524865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hasil AI tetap explainable dan diverifikasi manusia?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Rumusan masalah disarikan dari SATPAM_Latar_Belakang_Gap_Inovasi.md.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04 / 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38244" y="2843781"/>
            <a:ext cx="4160520" cy="1078992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57700" y="3136799"/>
            <a:ext cx="370332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38D9FF"/>
                </a:solidFill>
                <a:latin typeface="Aptos Display"/>
              </a:rPr>
              <a:t>Evidence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9140" y="3493415"/>
            <a:ext cx="3520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980" b="0" dirty="0">
                <a:solidFill>
                  <a:srgbClr val="EAF6FF"/>
                </a:solidFill>
                <a:latin typeface="Aptos"/>
              </a:rPr>
              <a:t> -&gt; domain -&gt; WA -&gt; </a:t>
            </a:r>
            <a:r>
              <a:rPr sz="980" b="0" dirty="0" err="1">
                <a:solidFill>
                  <a:srgbClr val="EAF6FF"/>
                </a:solidFill>
                <a:latin typeface="Aptos"/>
              </a:rPr>
              <a:t>rekening</a:t>
            </a:r>
            <a:r>
              <a:rPr sz="980" b="0" dirty="0">
                <a:solidFill>
                  <a:srgbClr val="EAF6FF"/>
                </a:solidFill>
                <a:latin typeface="Aptos"/>
              </a:rPr>
              <a:t> -&gt; APK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8956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05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PROPOSED SOLUTION: SATPAM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SATPAM menyatukan sinyal menjadi peta risiko terverifikasi.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2292" y="1519060"/>
            <a:ext cx="4879355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Alur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solusi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dibuat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sebagai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sistem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pendukung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analisis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: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indikatif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explainable, dan human-in-the-loop.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04872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0392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multi-sumber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30552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2400300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487168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ai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404872"/>
            <a:ext cx="438912" cy="438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624328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Entity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extraction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04488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4174235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61104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web_craw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2404872"/>
            <a:ext cx="438912" cy="4389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398264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intelligence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78424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5948172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035040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7" y="2404872"/>
            <a:ext cx="438912" cy="43891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172200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Graph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+ scoring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52360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7722108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808975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404872"/>
            <a:ext cx="438912" cy="43891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46136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prioritas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26296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9496044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582912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law_enforcement_a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2404872"/>
            <a:ext cx="438912" cy="43891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20072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Human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verification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52" y="4315968"/>
            <a:ext cx="9948672" cy="71323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07008" y="4517136"/>
            <a:ext cx="95097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EAF6FF"/>
                </a:solidFill>
                <a:latin typeface="Aptos"/>
              </a:rPr>
              <a:t>Output utama: risk score, evidence path, cluster, early warning, rekomendasi prioritas, dan status review.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5413248"/>
            <a:ext cx="92354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B84D"/>
                </a:solidFill>
                <a:latin typeface="Aptos"/>
              </a:rPr>
              <a:t>Batas aman prototype: data dummy, source `simulation_only`, masking data sensitif, dan tidak ada auto-blocking.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Konsep solusi berdasarkan SRS SATPAM bagian scope, architecture, dan human verification.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06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SYSTEM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Arsitektur memisahkan ingestion, graph intelligence, scoring, dan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5" y="1165877"/>
            <a:ext cx="4028079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93A8C5"/>
                </a:solidFill>
                <a:latin typeface="Aptos"/>
              </a:rPr>
              <a:t>Komponen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dirancang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modular agar prototype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aman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dapat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diuji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mudah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diperluas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3736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184708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Input &amp; 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292608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303580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SATPAM Intelligence 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6052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427024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Output &amp; Governance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11095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45059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Form/API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3931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web_craw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1911095"/>
            <a:ext cx="310896" cy="3108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09651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Crawler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Finding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8523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911095"/>
            <a:ext cx="310896" cy="3108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74243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Traffic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3115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911095"/>
            <a:ext cx="310896" cy="3108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8835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Transaksi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7707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1911095"/>
            <a:ext cx="310896" cy="31089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03427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Blacklist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Dummy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53312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08176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Validation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13432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2464308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78608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33472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Extraction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38728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3689603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803904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58768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+ Dedup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764024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4914900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029200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84064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Builder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89320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6140196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54496" y="3054096"/>
            <a:ext cx="960120" cy="56692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59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Graph DB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214616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7365492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7479792" y="3054096"/>
            <a:ext cx="960120" cy="56692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34656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BFS/Rules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A* optional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39912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8590788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8705088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59952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Risk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Scoring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665208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5400000">
            <a:off x="9816084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9930384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985248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Explain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+ Alert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82880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4334256"/>
            <a:ext cx="310896" cy="310896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28600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Explorer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749039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4334256"/>
            <a:ext cx="310896" cy="31089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0624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Priority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Queue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law_enforcement_a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4334256"/>
            <a:ext cx="310896" cy="31089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12648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Verification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Case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952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ai_analys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4334256"/>
            <a:ext cx="310896" cy="3108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4672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Audit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Log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0976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4334256"/>
            <a:ext cx="310896" cy="3108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96696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Export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Report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012680" y="2697480"/>
            <a:ext cx="0" cy="219456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10800000">
            <a:off x="9953244" y="2857500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10012680" y="3657600"/>
            <a:ext cx="0" cy="50292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10800000">
            <a:off x="9953244" y="4101083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Mermaid source: visuals/system_architecture.mmd | Diagram PPTX digambar sebagai shape editable.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07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METHOD /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Pipeline metode berjalan dari data dummy sampai rekomendasi prioritas.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5311" y="1307592"/>
            <a:ext cx="5259865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Metode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menggabungkan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graph database, AI search, rule-based risk scoring, dan review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manusia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2221991"/>
            <a:ext cx="402336" cy="402336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2416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Input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laporan, crawler,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transaksi simulasi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99032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1860804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87752" y="2221991"/>
            <a:ext cx="402336" cy="402336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70048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86584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Extract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URL, domain,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WA, rekening, APK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26664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3488436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15384" y="2221991"/>
            <a:ext cx="402336" cy="402336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0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4216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Normalize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masking,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dedup entity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54296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5116068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43016" y="2221991"/>
            <a:ext cx="402336" cy="402336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25312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41848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Graph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1264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node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relationship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81928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6743699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470648" y="2221991"/>
            <a:ext cx="402336" cy="402336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52944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8896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BFS path,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A* optional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909560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8371332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098280" y="2221991"/>
            <a:ext cx="402336" cy="402336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80576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97112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Score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6528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rule-based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risk score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537192" y="2423160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9998964" y="23637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725911" y="2221991"/>
            <a:ext cx="402336" cy="402336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08208" y="2304288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24744" y="2816352"/>
            <a:ext cx="91440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Explain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Review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3364992"/>
            <a:ext cx="1097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path bukti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human approval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0120" y="4572000"/>
            <a:ext cx="3017520" cy="804672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43000" y="4736592"/>
            <a:ext cx="2651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DC97"/>
                </a:solidFill>
                <a:latin typeface="Aptos Display"/>
              </a:rPr>
              <a:t>Safety by design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" y="5029200"/>
            <a:ext cx="2697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AF6FF"/>
                </a:solidFill>
                <a:latin typeface="Aptos"/>
              </a:rPr>
              <a:t>data dummy, no live interception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26280" y="4572000"/>
            <a:ext cx="3017520" cy="804672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709160" y="4736592"/>
            <a:ext cx="2651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D9FF"/>
                </a:solidFill>
                <a:latin typeface="Aptos Display"/>
              </a:rPr>
              <a:t>Explainable output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5029200"/>
            <a:ext cx="2697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AF6FF"/>
                </a:solidFill>
                <a:latin typeface="Aptos"/>
              </a:rPr>
              <a:t>rule aktif + evidence path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92440" y="4572000"/>
            <a:ext cx="3017520" cy="804672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75320" y="4736592"/>
            <a:ext cx="2651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B84D"/>
                </a:solidFill>
                <a:latin typeface="Aptos Display"/>
              </a:rPr>
              <a:t>Human-in-the-loop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5029200"/>
            <a:ext cx="2697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EAF6FF"/>
                </a:solidFill>
                <a:latin typeface="Aptos"/>
              </a:rPr>
              <a:t>candidate dulu, approval kemudian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Mermaid source: visuals/data_flow.mmd dan visuals/risk_scoring_pipeline.mmd.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08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INNOVATION / NOVELTY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Novelty SATPAM: network-based intelligence yang explainable.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3760" y="1307592"/>
            <a:ext cx="7865806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93A8C5"/>
                </a:solidFill>
                <a:latin typeface="Aptos"/>
              </a:rPr>
              <a:t>Perbedaan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utama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bukan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hanya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deteksi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tetapi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pemetaan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hubungan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prioritas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berbasis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graph risk.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37360"/>
            <a:ext cx="8092440" cy="448056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1938528"/>
            <a:ext cx="13716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A8C5"/>
                </a:solidFill>
                <a:latin typeface="Aptos"/>
              </a:rPr>
              <a:t>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00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Explain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Verify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8" y="2313432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68680" y="2450592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Data tersebar</a:t>
            </a:r>
          </a:p>
        </p:txBody>
      </p:sp>
      <p:sp>
        <p:nvSpPr>
          <p:cNvPr id="41" name="Oval 40"/>
          <p:cNvSpPr/>
          <p:nvPr/>
        </p:nvSpPr>
        <p:spPr>
          <a:xfrm>
            <a:off x="303580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4164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084064" y="2496312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05332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95744" y="2496312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841248" y="2971800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8680" y="3108960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Sistem reaktif</a:t>
            </a:r>
          </a:p>
        </p:txBody>
      </p:sp>
      <p:sp>
        <p:nvSpPr>
          <p:cNvPr id="48" name="Oval 47"/>
          <p:cNvSpPr/>
          <p:nvPr/>
        </p:nvSpPr>
        <p:spPr>
          <a:xfrm>
            <a:off x="303580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04164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4748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089904" y="3154680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05916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841248" y="3630168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8680" y="3767328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Identitas mudah berganti</a:t>
            </a:r>
          </a:p>
        </p:txBody>
      </p:sp>
      <p:sp>
        <p:nvSpPr>
          <p:cNvPr id="55" name="Oval 54"/>
          <p:cNvSpPr/>
          <p:nvPr/>
        </p:nvSpPr>
        <p:spPr>
          <a:xfrm>
            <a:off x="303580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04164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04748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05332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095744" y="3813048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841248" y="4288536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8680" y="4425696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Judol-pinjol terpisah</a:t>
            </a:r>
          </a:p>
        </p:txBody>
      </p:sp>
      <p:sp>
        <p:nvSpPr>
          <p:cNvPr id="62" name="Oval 61"/>
          <p:cNvSpPr/>
          <p:nvPr/>
        </p:nvSpPr>
        <p:spPr>
          <a:xfrm>
            <a:off x="303580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04164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04748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05332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095744" y="4471416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841248" y="4946904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68680" y="5084064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Output sulit dijelaskan</a:t>
            </a:r>
          </a:p>
        </p:txBody>
      </p:sp>
      <p:sp>
        <p:nvSpPr>
          <p:cNvPr id="69" name="Oval 68"/>
          <p:cNvSpPr/>
          <p:nvPr/>
        </p:nvSpPr>
        <p:spPr>
          <a:xfrm>
            <a:off x="303580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04164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04748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05332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916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070848" y="1737360"/>
            <a:ext cx="2331720" cy="4480560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08592" y="2057400"/>
            <a:ext cx="1874519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8D9FF"/>
                </a:solidFill>
                <a:latin typeface="Aptos Display"/>
              </a:rPr>
              <a:t>Inovasi inti</a:t>
            </a:r>
          </a:p>
        </p:txBody>
      </p:sp>
      <p:sp>
        <p:nvSpPr>
          <p:cNvPr id="76" name="Oval 75"/>
          <p:cNvSpPr/>
          <p:nvPr/>
        </p:nvSpPr>
        <p:spPr>
          <a:xfrm>
            <a:off x="9253728" y="2916936"/>
            <a:ext cx="109728" cy="10972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64040" y="28895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Graph intelligence lintas entitas</a:t>
            </a:r>
          </a:p>
        </p:txBody>
      </p:sp>
      <p:sp>
        <p:nvSpPr>
          <p:cNvPr id="78" name="Oval 77"/>
          <p:cNvSpPr/>
          <p:nvPr/>
        </p:nvSpPr>
        <p:spPr>
          <a:xfrm>
            <a:off x="9253728" y="3374136"/>
            <a:ext cx="109728" cy="109728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64040" y="33467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Search-based risk path</a:t>
            </a:r>
          </a:p>
        </p:txBody>
      </p:sp>
      <p:sp>
        <p:nvSpPr>
          <p:cNvPr id="80" name="Oval 79"/>
          <p:cNvSpPr/>
          <p:nvPr/>
        </p:nvSpPr>
        <p:spPr>
          <a:xfrm>
            <a:off x="9253728" y="3831336"/>
            <a:ext cx="109728" cy="109728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464040" y="38039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Judol-pinjol linkage detection</a:t>
            </a:r>
          </a:p>
        </p:txBody>
      </p:sp>
      <p:sp>
        <p:nvSpPr>
          <p:cNvPr id="82" name="Oval 81"/>
          <p:cNvSpPr/>
          <p:nvPr/>
        </p:nvSpPr>
        <p:spPr>
          <a:xfrm>
            <a:off x="9253728" y="4288536"/>
            <a:ext cx="109728" cy="109728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464040" y="42611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Rule score yang bisa dijelaskan</a:t>
            </a:r>
          </a:p>
        </p:txBody>
      </p:sp>
      <p:sp>
        <p:nvSpPr>
          <p:cNvPr id="84" name="Oval 83"/>
          <p:cNvSpPr/>
          <p:nvPr/>
        </p:nvSpPr>
        <p:spPr>
          <a:xfrm>
            <a:off x="9253728" y="4745736"/>
            <a:ext cx="109728" cy="10972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64040" y="47183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Human verification by design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Novelty disarikan dari SATPAM_Latar_Belakang_Gap_Inovasi.md bagian Gap dan Inovasi.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09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BENEFITS AND IMPLEMENTATION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Manfaat analitik jelas, roadmap prototype tetap realistis.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59" y="1296383"/>
            <a:ext cx="7315200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SATPAM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memberi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prioritas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jalur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bukti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tanpa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mengambil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alih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keputusan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manusia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19072"/>
            <a:ext cx="3840480" cy="452628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1975104"/>
            <a:ext cx="3383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8D9FF"/>
                </a:solidFill>
                <a:latin typeface="Aptos Display"/>
              </a:rPr>
              <a:t>Manfaat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" y="2660904"/>
            <a:ext cx="201168" cy="20116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70432" y="2615184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Prioritas kasus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2862072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analis fokus pada risiko tertinggi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" y="3410712"/>
            <a:ext cx="201168" cy="201168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70432" y="3364991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Evidence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3611879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alasan risiko dapat ditelusuri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" y="4160520"/>
            <a:ext cx="201168" cy="201168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70432" y="4114800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Cluster jaringan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361688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melihat node pusat dan relasi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" y="4910328"/>
            <a:ext cx="201168" cy="201168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4864608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111496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candidate, review, audit 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00600" y="1719072"/>
            <a:ext cx="6601968" cy="452628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47488" y="1975104"/>
            <a:ext cx="38404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8D9FF"/>
                </a:solidFill>
                <a:latin typeface="Aptos Display"/>
              </a:rPr>
              <a:t>Roadmap Prototype</a:t>
            </a:r>
          </a:p>
        </p:txBody>
      </p:sp>
      <p:sp>
        <p:nvSpPr>
          <p:cNvPr id="48" name="Oval 47"/>
          <p:cNvSpPr/>
          <p:nvPr/>
        </p:nvSpPr>
        <p:spPr>
          <a:xfrm>
            <a:off x="5102352" y="2660903"/>
            <a:ext cx="256032" cy="25603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394959" y="2788920"/>
            <a:ext cx="804672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01768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DC97"/>
                </a:solidFill>
                <a:latin typeface="Aptos"/>
              </a:rPr>
              <a:t>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Foundation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7448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schema, Docker, seed</a:t>
            </a:r>
          </a:p>
        </p:txBody>
      </p:sp>
      <p:sp>
        <p:nvSpPr>
          <p:cNvPr id="53" name="Oval 52"/>
          <p:cNvSpPr/>
          <p:nvPr/>
        </p:nvSpPr>
        <p:spPr>
          <a:xfrm>
            <a:off x="6245352" y="2660903"/>
            <a:ext cx="256032" cy="25603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6537959" y="2788920"/>
            <a:ext cx="804672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44768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F2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1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Data + Graph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70448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extract, normalize, Neo4j</a:t>
            </a:r>
          </a:p>
        </p:txBody>
      </p:sp>
      <p:sp>
        <p:nvSpPr>
          <p:cNvPr id="58" name="Oval 57"/>
          <p:cNvSpPr/>
          <p:nvPr/>
        </p:nvSpPr>
        <p:spPr>
          <a:xfrm>
            <a:off x="7388351" y="2660903"/>
            <a:ext cx="256032" cy="25603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7680959" y="2788920"/>
            <a:ext cx="804673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287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B84D"/>
                </a:solidFill>
                <a:latin typeface="Aptos"/>
              </a:rPr>
              <a:t>F3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4887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Search + Scoring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3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BFS, rules, opt. A*</a:t>
            </a:r>
          </a:p>
        </p:txBody>
      </p:sp>
      <p:sp>
        <p:nvSpPr>
          <p:cNvPr id="63" name="Oval 62"/>
          <p:cNvSpPr/>
          <p:nvPr/>
        </p:nvSpPr>
        <p:spPr>
          <a:xfrm>
            <a:off x="8531351" y="2660903"/>
            <a:ext cx="256032" cy="256032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8823959" y="2788920"/>
            <a:ext cx="804673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30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D6D"/>
                </a:solidFill>
                <a:latin typeface="Aptos"/>
              </a:rPr>
              <a:t>F4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7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Dashboard + Review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56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graph explorer, cases</a:t>
            </a:r>
          </a:p>
        </p:txBody>
      </p:sp>
      <p:sp>
        <p:nvSpPr>
          <p:cNvPr id="68" name="Oval 67"/>
          <p:cNvSpPr/>
          <p:nvPr/>
        </p:nvSpPr>
        <p:spPr>
          <a:xfrm>
            <a:off x="9674351" y="2660903"/>
            <a:ext cx="256032" cy="25603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73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DC97"/>
                </a:solidFill>
                <a:latin typeface="Aptos"/>
              </a:rPr>
              <a:t>F5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90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Testing + Demo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9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pytest, UI smoke, script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21808" y="5230368"/>
            <a:ext cx="5394960" cy="438912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577840" y="5340096"/>
            <a:ext cx="4892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Target MVP: 1.000 node, 5.000 relationship, dashboard &lt; 3 detik pada dataset prototype.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Roadmap berdasarkan SRS SATPAM fase implementasi prototype.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10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CLOSING AND 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960120"/>
            <a:ext cx="7223760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dirty="0">
                <a:solidFill>
                  <a:srgbClr val="EAF6FF"/>
                </a:solidFill>
                <a:latin typeface="Aptos Display"/>
              </a:rPr>
              <a:t>SATPAM </a:t>
            </a:r>
            <a:r>
              <a:rPr sz="3400" b="1" dirty="0" err="1">
                <a:solidFill>
                  <a:srgbClr val="EAF6FF"/>
                </a:solidFill>
                <a:latin typeface="Aptos Display"/>
              </a:rPr>
              <a:t>membaca</a:t>
            </a:r>
            <a:r>
              <a:rPr sz="34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3400" b="1" dirty="0" err="1">
                <a:solidFill>
                  <a:srgbClr val="EAF6FF"/>
                </a:solidFill>
                <a:latin typeface="Aptos Display"/>
              </a:rPr>
              <a:t>ancaman</a:t>
            </a:r>
            <a:r>
              <a:rPr sz="34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3400" b="1" dirty="0" err="1">
                <a:solidFill>
                  <a:srgbClr val="EAF6FF"/>
                </a:solidFill>
                <a:latin typeface="Aptos Display"/>
              </a:rPr>
              <a:t>sebagai</a:t>
            </a:r>
            <a:r>
              <a:rPr sz="34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3400" b="1" dirty="0" err="1">
                <a:solidFill>
                  <a:srgbClr val="EAF6FF"/>
                </a:solidFill>
                <a:latin typeface="Aptos Display"/>
              </a:rPr>
              <a:t>jaringan</a:t>
            </a:r>
            <a:r>
              <a:rPr sz="34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3400" b="1" dirty="0" err="1">
                <a:solidFill>
                  <a:srgbClr val="EAF6FF"/>
                </a:solidFill>
                <a:latin typeface="Aptos Display"/>
              </a:rPr>
              <a:t>risiko</a:t>
            </a:r>
            <a:r>
              <a:rPr sz="3400" b="1" dirty="0">
                <a:solidFill>
                  <a:srgbClr val="EAF6FF"/>
                </a:solidFill>
                <a:latin typeface="Aptos Display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118370"/>
            <a:ext cx="65379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93A8C5"/>
                </a:solidFill>
                <a:latin typeface="Aptos"/>
              </a:rPr>
              <a:t>Sebagai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 decision-support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untuk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mendeteksi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memetakan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menjelaskan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memprioritaskan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, dan </a:t>
            </a:r>
            <a:r>
              <a:rPr sz="1600" b="0" dirty="0" err="1">
                <a:solidFill>
                  <a:srgbClr val="93A8C5"/>
                </a:solidFill>
                <a:latin typeface="Aptos"/>
              </a:rPr>
              <a:t>memverifikasi</a:t>
            </a:r>
            <a:r>
              <a:rPr sz="160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2995396"/>
            <a:ext cx="105156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" y="3050260"/>
            <a:ext cx="90525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38D9FF"/>
                </a:solidFill>
                <a:latin typeface="Aptos"/>
              </a:rPr>
              <a:t>Detect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20824" y="2995396"/>
            <a:ext cx="105156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93976" y="3050260"/>
            <a:ext cx="90525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DDC97"/>
                </a:solidFill>
                <a:latin typeface="Aptos"/>
              </a:rPr>
              <a:t>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5264" y="2995396"/>
            <a:ext cx="105156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28416" y="3050260"/>
            <a:ext cx="90525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B84D"/>
                </a:solidFill>
                <a:latin typeface="Aptos"/>
              </a:rPr>
              <a:t>Explain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9704" y="2995396"/>
            <a:ext cx="105156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62856" y="3050260"/>
            <a:ext cx="90525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4D6D"/>
                </a:solidFill>
                <a:latin typeface="Aptos"/>
              </a:rPr>
              <a:t>Prioritize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24144" y="2995396"/>
            <a:ext cx="105156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97296" y="3050260"/>
            <a:ext cx="90525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Verify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" y="3730752"/>
            <a:ext cx="6263640" cy="1170432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3968496"/>
            <a:ext cx="58064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AF6FF"/>
                </a:solidFill>
                <a:latin typeface="Aptos Display"/>
              </a:rPr>
              <a:t>Thesis: graph search + risk scoring + human verification dapat membuat analisis judol-pinjol lebih terhubung, transparan, dan prioritas.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1005840"/>
            <a:ext cx="3611880" cy="498348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82127" y="1261872"/>
            <a:ext cx="301752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8D9FF"/>
                </a:solidFill>
                <a:latin typeface="Aptos Display"/>
              </a:rPr>
              <a:t>Referensi utama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178308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[1] PPATK, Catatan Capaian Strategis 2025, 2026.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2350008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[2] Komdigi, laporan pemblokiran rekening judol, 2025.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2916936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[3] OJK, Indonesia Anti-Scam Centre, 2026.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3483863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[4] OJK, Waspada Pinjaman Online Ilegal.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4050791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[5]-[8] Neo4j Documentation: graph concepts, path finding, BFS, centrality.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461772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AF6FF"/>
                </a:solidFill>
                <a:latin typeface="Aptos"/>
              </a:rPr>
              <a:t>[9]-[11] SRS dan dokumen proposal SATPAM lokal.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Daftar lengkap tersedia di references.md.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2135</Words>
  <Application>Microsoft Office PowerPoint</Application>
  <PresentationFormat>Widescreen</PresentationFormat>
  <Paragraphs>284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Dzaky Ghiffary</cp:lastModifiedBy>
  <cp:revision>2</cp:revision>
  <dcterms:created xsi:type="dcterms:W3CDTF">2013-01-27T09:14:16Z</dcterms:created>
  <dcterms:modified xsi:type="dcterms:W3CDTF">2026-06-03T18:24:18Z</dcterms:modified>
  <cp:category/>
</cp:coreProperties>
</file>