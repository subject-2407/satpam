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424" autoAdjust="0"/>
  </p:normalViewPr>
  <p:slideViewPr>
    <p:cSldViewPr snapToGrid="0" snapToObjects="1">
      <p:cViewPr varScale="1">
        <p:scale>
          <a:sx n="62" d="100"/>
          <a:sy n="62" d="100"/>
        </p:scale>
        <p:origin x="801" y="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83088F-BAAE-4187-997C-66DE15C33ED9}" type="datetimeFigureOut">
              <a:rPr lang="en-ID" smtClean="0"/>
              <a:t>04/06/2026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056764-BC66-4FEF-840D-CF6FF7AF903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42783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Selamat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pagi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siang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Pada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presentasi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mengusulkan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**SATPAM**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singkatan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**Search-based AI Threat Prevention and Mapping**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Ide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utamanya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membangun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AI-assisted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berbasis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graph intelligence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untuk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membantu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mendeteksi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memetakan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memprioritaskan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risiko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pada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ekosistem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judi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online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pinjaman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online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ilegal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SATPAM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tidak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diposisikan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sebagai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penindakan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otomatis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decision-support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untuk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analis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membantu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melihat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hubungan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antar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entitas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menampilkan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jalur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bukti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memberi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skor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risiko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lalu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tetap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meminta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verifikasi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manusia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sebelum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tindakan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lanjut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056764-BC66-4FEF-840D-CF6FF7AF903C}" type="slidenum">
              <a:rPr lang="en-ID" smtClean="0"/>
              <a:t>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379194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Masalah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judol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pinjol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ilegal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tidak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bisa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dilihat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sebagai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masalah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satu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situs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atau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satu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aplikasi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saja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Data PPATK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mencatat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pada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tahun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2025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perputaran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dana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judol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mencapai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Rp286,84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triliun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dengan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422,1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juta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transaksi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12,3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juta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orang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melakukan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deposit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melalui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bank, e-wallet, dan QRIS. Ini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menunjukkan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bahwa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masalahnya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sudah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lintas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kanal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konten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promosi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domain,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nomor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WhatsApp,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rekening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QRIS, e-wallet, APK,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laporan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masyarakat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Kalau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tiap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kanal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dianalisis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sendiri-sendiri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jaringan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besarnya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sulit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terlihat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Di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situlah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urgensi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SATPAM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muncul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056764-BC66-4FEF-840D-CF6FF7AF903C}" type="slidenum">
              <a:rPr lang="en-ID" smtClean="0"/>
              <a:t>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18495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Indonesia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sebenarnya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sudah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memiliki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lembaga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penting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Komdigi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menangani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konten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pemblokiran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ruang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digital, OJK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Satgas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PASTI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menangani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aktivitas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keuangan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ilegal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IASC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menjadi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kanal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laporan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scam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transaksi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keuangan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PPATK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menganalisis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aliran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dana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mencurigakan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kepolisian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menangani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penegakan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hukum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Gap yang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ingin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diambil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SATPAM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menggantikan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mereka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tetapi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menghubungkan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potongan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yang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tersebar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existing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sering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pada domain masing-masing,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sedangkan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SATPAM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menambahkan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peta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link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mengarah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domain mana, domain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terhubung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nomor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nomor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terhubung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rekening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mana,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apakah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rekening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atau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APK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muncul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pada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laporan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lain.</a:t>
            </a:r>
          </a:p>
          <a:p>
            <a:b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ID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056764-BC66-4FEF-840D-CF6FF7AF903C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310704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Rumusan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masalahnya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dapat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diringkas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menjadi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lima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pertanyaan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Pertama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bagaimana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merancang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berbasis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graph search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untuk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memetakan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ekosistem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judol-pinjol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ilegal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Kedua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bagaimana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menghubungkan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laporan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domain,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nomor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WhatsApp,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rekening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APK, crawler finding,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transaksi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simulasi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dan blacklist dummy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dalam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satu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graph database.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Ketiga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bagaimana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menerapkan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algoritma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searching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seperti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BFS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untuk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evidence path,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dengan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UCS, Bi-Directional Search, dan A*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sebagai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lanjutan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untuk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menemukan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jalur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risiko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Keempat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bagaimana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menghitung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skor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risiko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prioritas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tindakan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Kelima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bagaimana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hasil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dijelaskan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dalam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bentuk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path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bukti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mudah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dipahami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analis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056764-BC66-4FEF-840D-CF6FF7AF903C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010749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SATPAM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menjawab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masalah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tersebut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dengan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alur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multi-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sumber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Input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dapat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berasal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laporan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masyarakat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crawler finding dummy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atau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scraper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publik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legal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berizin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indikator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transaksi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simulasi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blacklist dummy, dan data APK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simulasi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kemudian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melakukan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entity extraction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untuk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mengambil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URL, domain,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nomor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rekening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keyword, QRIS, e-wallet, dan APK.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Setelah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data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dinormalisasi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dibangun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menjadi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graph. Di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atas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graph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BFS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membantu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menelusuri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evidence path, rule-based risk scoring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menghitung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tingkat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risiko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dan A*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dapat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dipakai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sebagai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lanjutan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jika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heuristic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sudah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jelas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Dashboard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menampilkan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prioritas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serta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evidence path. Hasil high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atau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critical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hanya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menjadi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blacklist candidate,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blokir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otomatis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ID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056764-BC66-4FEF-840D-CF6FF7AF903C}" type="slidenum">
              <a:rPr lang="en-ID" smtClean="0"/>
              <a:t>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350736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Arsitektur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SATPAM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terdiri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lapisan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besar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Lapisan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pertama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input: report form, API, import dataset dummy, crawler finding, traffic log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simulasi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transaksi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simulasi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Lapisan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kedua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ingestion dan processing: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extraction, normalization, deduplication, dan graph builder.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Lapisan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ketiga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intelligence core: Neo4j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sebagai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graph database, BFS dan rule-based scoring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sebagai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inti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analisis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serta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UCS, BDS, dan A*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sebagai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lanjutan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ditambah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early warning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serta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explanation engine.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Lapisan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terakhir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dashboard dan verification workflow. Di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analis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melihat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graph,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skor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cluster,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rekomendasi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audit log,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melakukan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human verification.</a:t>
            </a:r>
          </a:p>
          <a:p>
            <a:b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ID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056764-BC66-4FEF-840D-CF6FF7AF903C}" type="slidenum">
              <a:rPr lang="en-ID" smtClean="0"/>
              <a:t>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446134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Metode yang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digunakan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pada prototype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dibuat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realistis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Data yang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digunakan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dummy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atau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simulasi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Pipeline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dimulai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input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lalu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entity extraction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berbasis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regex dan rule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sederhana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Entitas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dinormalisasi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disamarkan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jika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sensitif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lalu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dideduplicate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Graph builder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membuat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node dan relationship.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Setelah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BFS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digunakan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sebagai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metode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utama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untuk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koneksi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terdekat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evidence path,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sementara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UCS, Bi-Directional Search, dan A*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diposisikan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sebagai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lanjutan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jika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cost,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bobot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edge, dan heuristic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sudah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terdokumentasi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Output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akhirnya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risk score, explanation, early warning, dashboard, dan review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manusia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ID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056764-BC66-4FEF-840D-CF6FF7AF903C}" type="slidenum">
              <a:rPr lang="en-ID" smtClean="0"/>
              <a:t>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392654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Novelty SATPAM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pada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perubahan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melihat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masalah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tidak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lagi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hanya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entity-based detection,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melainkan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network-based intelligence.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Pertama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graph intelligence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menyatukan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entitas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digital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finansial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Kedua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search-based risk path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membuat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hasil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deteksi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bisa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ditelusuri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Ketiga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judol-pinjol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linkage detection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mencoba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melihat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hubungan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antara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kerugian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judol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tawaran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pinjol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ilegal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Keempat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risk scoring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berbasis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membantu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menentukan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prioritas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Kelima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explainable detection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membuat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tidak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hanya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memberi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label,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tetapi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juga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menjawab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kenapa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sebuah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entitas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dianggap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berisiko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Yang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penting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novelty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tetap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human-in-the-loop: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memberi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kandidat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alasan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sedangkan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keputusan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akhir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tetap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diverifikasi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manusia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056764-BC66-4FEF-840D-CF6FF7AF903C}" type="slidenum">
              <a:rPr lang="en-ID" smtClean="0"/>
              <a:t>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849688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Manfaat SATPAM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untuk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prototype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membantu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analis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memprioritaskan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kasus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melihat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cluster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jaringan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memahami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evidence path,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mengurangi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risiko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salah tafsir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karena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hasil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tetap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berada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dalam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human-in-the-loop. Roadmap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implementasinya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bisa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dilakukan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dalam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lima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fase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foundation dan schema data; data ingestion dan graph builder; search dan scoring; dashboard dan verification;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lalu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testing dan demo.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Dengan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roadmap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tetap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kompetitif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secara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teknologi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tetapi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tidak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overclaim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karena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semua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pada prototype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dummy dan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tidak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D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melakukan</a:t>
            </a:r>
            <a:r>
              <a:rPr lang="en-ID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auto-blocking.</a:t>
            </a:r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056764-BC66-4FEF-840D-CF6FF7AF903C}" type="slidenum">
              <a:rPr lang="en-ID" smtClean="0"/>
              <a:t>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37944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142B"/>
          </a:solidFill>
          <a:ln>
            <a:solidFill>
              <a:srgbClr val="061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9728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19456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109728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438912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502920"/>
            <a:ext cx="1600200" cy="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109960" y="502920"/>
            <a:ext cx="0" cy="54864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287000" y="1051560"/>
            <a:ext cx="822960" cy="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477756" y="47091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077956" y="47091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077956" y="101955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254996" y="101955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530352" y="6446520"/>
            <a:ext cx="11128248" cy="0"/>
          </a:xfrm>
          <a:prstGeom prst="line">
            <a:avLst/>
          </a:prstGeom>
          <a:ln w="889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30352" y="6501384"/>
            <a:ext cx="80467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789920" y="6473952"/>
            <a:ext cx="868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8D9FF"/>
                </a:solidFill>
                <a:latin typeface="Aptos"/>
              </a:rPr>
              <a:t>01 / 10</a:t>
            </a:r>
          </a:p>
        </p:txBody>
      </p:sp>
      <p:sp>
        <p:nvSpPr>
          <p:cNvPr id="28" name="kicker-marker"/>
          <p:cNvSpPr/>
          <p:nvPr/>
        </p:nvSpPr>
        <p:spPr>
          <a:xfrm>
            <a:off x="530352" y="402336"/>
            <a:ext cx="109728" cy="109728"/>
          </a:xfrm>
          <a:prstGeom prst="rect">
            <a:avLst/>
          </a:prstGeom>
          <a:solidFill>
            <a:srgbClr val="38D9FF"/>
          </a:solidFill>
          <a:ln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kicker-label"/>
          <p:cNvSpPr txBox="1"/>
          <p:nvPr/>
        </p:nvSpPr>
        <p:spPr>
          <a:xfrm>
            <a:off x="713232" y="329184"/>
            <a:ext cx="356616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8D9FF"/>
                </a:solidFill>
                <a:latin typeface="Aptos"/>
              </a:rPr>
              <a:t>PROPOSAL / AI SECURITY 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960120"/>
            <a:ext cx="5120640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EAF6FF"/>
                </a:solidFill>
                <a:latin typeface="Aptos Display"/>
              </a:rPr>
              <a:t>SATPAM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1664208"/>
            <a:ext cx="4846320" cy="7772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38D9FF"/>
                </a:solidFill>
                <a:latin typeface="Aptos"/>
              </a:rPr>
              <a:t>Search-based AI Threat Prevention and Mapping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2304288"/>
            <a:ext cx="4663440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93A8C5"/>
                </a:solidFill>
                <a:latin typeface="Aptos"/>
              </a:rPr>
              <a:t>Sistem graph intelligence untuk deteksi, pemetaan, dan prioritisasi risiko ekosistem judol-pinjol ilegal.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6583680" y="868680"/>
            <a:ext cx="1737360" cy="548640"/>
          </a:xfrm>
          <a:prstGeom prst="line">
            <a:avLst/>
          </a:prstGeom>
          <a:ln w="1397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321040" y="868680"/>
            <a:ext cx="1645920" cy="685800"/>
          </a:xfrm>
          <a:prstGeom prst="line">
            <a:avLst/>
          </a:prstGeom>
          <a:ln w="1397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583680" y="1417320"/>
            <a:ext cx="914399" cy="1325880"/>
          </a:xfrm>
          <a:prstGeom prst="line">
            <a:avLst/>
          </a:prstGeom>
          <a:ln w="1397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498079" y="2743200"/>
            <a:ext cx="2011681" cy="411480"/>
          </a:xfrm>
          <a:prstGeom prst="line">
            <a:avLst/>
          </a:prstGeom>
          <a:ln w="1397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9509760" y="1554480"/>
            <a:ext cx="457200" cy="1600200"/>
          </a:xfrm>
          <a:prstGeom prst="line">
            <a:avLst/>
          </a:prstGeom>
          <a:ln w="1397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6172200" y="2743200"/>
            <a:ext cx="1325879" cy="1188720"/>
          </a:xfrm>
          <a:prstGeom prst="line">
            <a:avLst/>
          </a:prstGeom>
          <a:ln w="1397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172200" y="3931920"/>
            <a:ext cx="2240280" cy="777240"/>
          </a:xfrm>
          <a:prstGeom prst="line">
            <a:avLst/>
          </a:prstGeom>
          <a:ln w="1397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8412480" y="3154680"/>
            <a:ext cx="1097280" cy="1554480"/>
          </a:xfrm>
          <a:prstGeom prst="line">
            <a:avLst/>
          </a:prstGeom>
          <a:ln w="1397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321040" y="868680"/>
            <a:ext cx="91440" cy="3840480"/>
          </a:xfrm>
          <a:prstGeom prst="line">
            <a:avLst/>
          </a:prstGeom>
          <a:ln w="1397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6432804" y="1266444"/>
            <a:ext cx="301752" cy="301752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199632" y="1618488"/>
            <a:ext cx="82296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EAF6FF"/>
                </a:solidFill>
                <a:latin typeface="Aptos"/>
              </a:rPr>
              <a:t>Report</a:t>
            </a:r>
          </a:p>
        </p:txBody>
      </p:sp>
      <p:sp>
        <p:nvSpPr>
          <p:cNvPr id="44" name="Oval 43"/>
          <p:cNvSpPr/>
          <p:nvPr/>
        </p:nvSpPr>
        <p:spPr>
          <a:xfrm>
            <a:off x="8170164" y="717803"/>
            <a:ext cx="301752" cy="301752"/>
          </a:xfrm>
          <a:prstGeom prst="ellipse">
            <a:avLst/>
          </a:prstGeom>
          <a:solidFill>
            <a:srgbClr val="38D9FF"/>
          </a:solidFill>
          <a:ln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936992" y="1069848"/>
            <a:ext cx="82296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EAF6FF"/>
                </a:solidFill>
                <a:latin typeface="Aptos"/>
              </a:rPr>
              <a:t>Domain</a:t>
            </a:r>
          </a:p>
        </p:txBody>
      </p:sp>
      <p:sp>
        <p:nvSpPr>
          <p:cNvPr id="46" name="Oval 45"/>
          <p:cNvSpPr/>
          <p:nvPr/>
        </p:nvSpPr>
        <p:spPr>
          <a:xfrm>
            <a:off x="9816084" y="1403604"/>
            <a:ext cx="301752" cy="301752"/>
          </a:xfrm>
          <a:prstGeom prst="ellipse">
            <a:avLst/>
          </a:prstGeom>
          <a:solidFill>
            <a:srgbClr val="FFB84D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582912" y="1755648"/>
            <a:ext cx="82296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EAF6FF"/>
                </a:solidFill>
                <a:latin typeface="Aptos"/>
              </a:rPr>
              <a:t>WA</a:t>
            </a:r>
          </a:p>
        </p:txBody>
      </p:sp>
      <p:sp>
        <p:nvSpPr>
          <p:cNvPr id="48" name="Oval 47"/>
          <p:cNvSpPr/>
          <p:nvPr/>
        </p:nvSpPr>
        <p:spPr>
          <a:xfrm>
            <a:off x="7347204" y="2592324"/>
            <a:ext cx="301752" cy="301752"/>
          </a:xfrm>
          <a:prstGeom prst="ellipse">
            <a:avLst/>
          </a:prstGeom>
          <a:solidFill>
            <a:srgbClr val="FF4D6D"/>
          </a:solidFill>
          <a:ln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114031" y="2944368"/>
            <a:ext cx="82296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EAF6FF"/>
                </a:solidFill>
                <a:latin typeface="Aptos"/>
              </a:rPr>
              <a:t>Rekening</a:t>
            </a:r>
          </a:p>
        </p:txBody>
      </p:sp>
      <p:sp>
        <p:nvSpPr>
          <p:cNvPr id="50" name="Oval 49"/>
          <p:cNvSpPr/>
          <p:nvPr/>
        </p:nvSpPr>
        <p:spPr>
          <a:xfrm>
            <a:off x="9358884" y="3003804"/>
            <a:ext cx="301752" cy="301752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25712" y="3355848"/>
            <a:ext cx="82296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EAF6FF"/>
                </a:solidFill>
                <a:latin typeface="Aptos"/>
              </a:rPr>
              <a:t>APK</a:t>
            </a:r>
          </a:p>
        </p:txBody>
      </p:sp>
      <p:sp>
        <p:nvSpPr>
          <p:cNvPr id="52" name="Oval 51"/>
          <p:cNvSpPr/>
          <p:nvPr/>
        </p:nvSpPr>
        <p:spPr>
          <a:xfrm>
            <a:off x="6021324" y="3781044"/>
            <a:ext cx="301752" cy="301752"/>
          </a:xfrm>
          <a:prstGeom prst="ellipse">
            <a:avLst/>
          </a:prstGeom>
          <a:solidFill>
            <a:srgbClr val="38D9FF"/>
          </a:solidFill>
          <a:ln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788152" y="4133087"/>
            <a:ext cx="82296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EAF6FF"/>
                </a:solidFill>
                <a:latin typeface="Aptos"/>
              </a:rPr>
              <a:t>Blacklist</a:t>
            </a:r>
          </a:p>
        </p:txBody>
      </p:sp>
      <p:sp>
        <p:nvSpPr>
          <p:cNvPr id="54" name="Oval 53"/>
          <p:cNvSpPr/>
          <p:nvPr/>
        </p:nvSpPr>
        <p:spPr>
          <a:xfrm>
            <a:off x="8261604" y="4558284"/>
            <a:ext cx="301752" cy="301752"/>
          </a:xfrm>
          <a:prstGeom prst="ellipse">
            <a:avLst/>
          </a:prstGeom>
          <a:solidFill>
            <a:srgbClr val="FFB84D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028431" y="4910328"/>
            <a:ext cx="82296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EAF6FF"/>
                </a:solidFill>
                <a:latin typeface="Aptos"/>
              </a:rPr>
              <a:t>Dashboard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1792" y="3749039"/>
            <a:ext cx="914400" cy="310896"/>
          </a:xfrm>
          <a:prstGeom prst="roundRect">
            <a:avLst/>
          </a:prstGeom>
          <a:solidFill>
            <a:srgbClr val="081B36"/>
          </a:solidFill>
          <a:ln w="12700"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94944" y="3803903"/>
            <a:ext cx="768096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8D9FF"/>
                </a:solidFill>
                <a:latin typeface="Aptos"/>
              </a:rPr>
              <a:t>Detect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682495" y="3749039"/>
            <a:ext cx="914400" cy="310896"/>
          </a:xfrm>
          <a:prstGeom prst="roundRect">
            <a:avLst/>
          </a:prstGeom>
          <a:solidFill>
            <a:srgbClr val="081B36"/>
          </a:solidFill>
          <a:ln w="12700"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755648" y="3803903"/>
            <a:ext cx="768096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DDC97"/>
                </a:solidFill>
                <a:latin typeface="Aptos"/>
              </a:rPr>
              <a:t>Map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743200" y="3749039"/>
            <a:ext cx="914400" cy="310896"/>
          </a:xfrm>
          <a:prstGeom prst="roundRect">
            <a:avLst/>
          </a:prstGeom>
          <a:solidFill>
            <a:srgbClr val="081B36"/>
          </a:solidFill>
          <a:ln w="1270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816352" y="3803903"/>
            <a:ext cx="768096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B84D"/>
                </a:solidFill>
                <a:latin typeface="Aptos"/>
              </a:rPr>
              <a:t>Explain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803903" y="3749039"/>
            <a:ext cx="914400" cy="310896"/>
          </a:xfrm>
          <a:prstGeom prst="roundRect">
            <a:avLst/>
          </a:prstGeom>
          <a:solidFill>
            <a:srgbClr val="081B36"/>
          </a:solidFill>
          <a:ln w="1270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877055" y="3803903"/>
            <a:ext cx="768096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4D6D"/>
                </a:solidFill>
                <a:latin typeface="Aptos"/>
              </a:rPr>
              <a:t>Prioritize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864607" y="3749039"/>
            <a:ext cx="914400" cy="310896"/>
          </a:xfrm>
          <a:prstGeom prst="roundRect">
            <a:avLst/>
          </a:prstGeom>
          <a:solidFill>
            <a:srgbClr val="081B36"/>
          </a:solidFill>
          <a:ln w="12700"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937759" y="3803903"/>
            <a:ext cx="768096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8D9FF"/>
                </a:solidFill>
                <a:latin typeface="Aptos"/>
              </a:rPr>
              <a:t>Verify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21792" y="4919472"/>
            <a:ext cx="4526280" cy="658368"/>
          </a:xfrm>
          <a:prstGeom prst="roundRect">
            <a:avLst/>
          </a:prstGeom>
          <a:solidFill>
            <a:srgbClr val="0D315D"/>
          </a:solidFill>
          <a:ln w="12700"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22960" y="5074920"/>
            <a:ext cx="411480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EAF6FF"/>
                </a:solidFill>
                <a:latin typeface="Aptos"/>
              </a:rPr>
              <a:t>Graph Search + Risk Scoring + Human Verification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530352" y="6446520"/>
            <a:ext cx="11128248" cy="0"/>
          </a:xfrm>
          <a:prstGeom prst="line">
            <a:avLst/>
          </a:prstGeom>
          <a:ln w="889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530352" y="6501384"/>
            <a:ext cx="80467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93A8C5"/>
                </a:solidFill>
                <a:latin typeface="Aptos"/>
              </a:rPr>
              <a:t>Proposal SATPAM | Prototype berbasis data dummy dan human-in-the-loop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789920" y="6473952"/>
            <a:ext cx="868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8D9FF"/>
                </a:solidFill>
                <a:latin typeface="Aptos"/>
              </a:rPr>
              <a:t>01 / 10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142B"/>
          </a:solidFill>
          <a:ln>
            <a:solidFill>
              <a:srgbClr val="061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9728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19456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109728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438912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502920"/>
            <a:ext cx="1600200" cy="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109960" y="502920"/>
            <a:ext cx="0" cy="54864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287000" y="1051560"/>
            <a:ext cx="822960" cy="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477756" y="47091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077956" y="47091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077956" y="101955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254996" y="101955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530352" y="6446520"/>
            <a:ext cx="11128248" cy="0"/>
          </a:xfrm>
          <a:prstGeom prst="line">
            <a:avLst/>
          </a:prstGeom>
          <a:ln w="889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30352" y="6501384"/>
            <a:ext cx="80467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789920" y="6473952"/>
            <a:ext cx="868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8D9FF"/>
                </a:solidFill>
                <a:latin typeface="Aptos"/>
              </a:rPr>
              <a:t>02 / 10</a:t>
            </a:r>
          </a:p>
        </p:txBody>
      </p:sp>
      <p:sp>
        <p:nvSpPr>
          <p:cNvPr id="28" name="kicker-marker"/>
          <p:cNvSpPr/>
          <p:nvPr/>
        </p:nvSpPr>
        <p:spPr>
          <a:xfrm>
            <a:off x="530352" y="402336"/>
            <a:ext cx="109728" cy="109728"/>
          </a:xfrm>
          <a:prstGeom prst="rect">
            <a:avLst/>
          </a:prstGeom>
          <a:solidFill>
            <a:srgbClr val="38D9FF"/>
          </a:solidFill>
          <a:ln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kicker-label"/>
          <p:cNvSpPr txBox="1"/>
          <p:nvPr/>
        </p:nvSpPr>
        <p:spPr>
          <a:xfrm>
            <a:off x="713232" y="329184"/>
            <a:ext cx="356616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8D9FF"/>
                </a:solidFill>
                <a:latin typeface="Aptos"/>
              </a:rPr>
              <a:t>BACKGROUND / URGENCY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3" y="713232"/>
            <a:ext cx="8814815" cy="4708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dirty="0" err="1">
                <a:solidFill>
                  <a:srgbClr val="EAF6FF"/>
                </a:solidFill>
                <a:latin typeface="Aptos Display"/>
              </a:rPr>
              <a:t>Masalahnya</a:t>
            </a:r>
            <a:r>
              <a:rPr sz="2700" b="1" dirty="0">
                <a:solidFill>
                  <a:srgbClr val="EAF6FF"/>
                </a:solidFill>
                <a:latin typeface="Aptos Display"/>
              </a:rPr>
              <a:t> </a:t>
            </a:r>
            <a:r>
              <a:rPr sz="2700" b="1" dirty="0" err="1">
                <a:solidFill>
                  <a:srgbClr val="EAF6FF"/>
                </a:solidFill>
                <a:latin typeface="Aptos Display"/>
              </a:rPr>
              <a:t>bukan</a:t>
            </a:r>
            <a:r>
              <a:rPr sz="2700" b="1" dirty="0">
                <a:solidFill>
                  <a:srgbClr val="EAF6FF"/>
                </a:solidFill>
                <a:latin typeface="Aptos Display"/>
              </a:rPr>
              <a:t> </a:t>
            </a:r>
            <a:r>
              <a:rPr sz="2700" b="1" dirty="0" err="1">
                <a:solidFill>
                  <a:srgbClr val="EAF6FF"/>
                </a:solidFill>
                <a:latin typeface="Aptos Display"/>
              </a:rPr>
              <a:t>satu</a:t>
            </a:r>
            <a:r>
              <a:rPr sz="2700" b="1" dirty="0">
                <a:solidFill>
                  <a:srgbClr val="EAF6FF"/>
                </a:solidFill>
                <a:latin typeface="Aptos Display"/>
              </a:rPr>
              <a:t> situs. Ini </a:t>
            </a:r>
            <a:r>
              <a:rPr sz="2700" b="1" dirty="0" err="1">
                <a:solidFill>
                  <a:srgbClr val="EAF6FF"/>
                </a:solidFill>
                <a:latin typeface="Aptos Display"/>
              </a:rPr>
              <a:t>jaringan</a:t>
            </a:r>
            <a:r>
              <a:rPr sz="2700" b="1" dirty="0">
                <a:solidFill>
                  <a:srgbClr val="EAF6FF"/>
                </a:solidFill>
                <a:latin typeface="Aptos Display"/>
              </a:rPr>
              <a:t> </a:t>
            </a:r>
            <a:r>
              <a:rPr sz="2700" b="1" dirty="0" err="1">
                <a:solidFill>
                  <a:srgbClr val="EAF6FF"/>
                </a:solidFill>
                <a:latin typeface="Aptos Display"/>
              </a:rPr>
              <a:t>lintas</a:t>
            </a:r>
            <a:r>
              <a:rPr sz="2700" b="1" dirty="0">
                <a:solidFill>
                  <a:srgbClr val="EAF6FF"/>
                </a:solidFill>
                <a:latin typeface="Aptos Display"/>
              </a:rPr>
              <a:t> media.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1307592"/>
            <a:ext cx="731520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93A8C5"/>
                </a:solidFill>
                <a:latin typeface="Aptos"/>
              </a:rPr>
              <a:t>Judol-pinjol ilegal bergerak melalui konten, kontak, transaksi, aplikasi, dan laporan korban.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1828800"/>
            <a:ext cx="3337560" cy="914400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1247" y="1965960"/>
            <a:ext cx="292608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8D9FF"/>
                </a:solidFill>
                <a:latin typeface="Aptos Display"/>
              </a:rPr>
              <a:t>Rp286,84 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2359152"/>
            <a:ext cx="2926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EAF6FF"/>
                </a:solidFill>
                <a:latin typeface="Aptos"/>
              </a:rPr>
              <a:t>perputaran dana judol 2025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86200" y="1828800"/>
            <a:ext cx="3337560" cy="914400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069080" y="1965960"/>
            <a:ext cx="292608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B84D"/>
                </a:solidFill>
                <a:latin typeface="Aptos Display"/>
              </a:rPr>
              <a:t>422,1 juta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87368" y="2359152"/>
            <a:ext cx="2926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EAF6FF"/>
                </a:solidFill>
                <a:latin typeface="Aptos"/>
              </a:rPr>
              <a:t>transaksi judol tercatat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14032" y="1828800"/>
            <a:ext cx="3337560" cy="914400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296912" y="1965960"/>
            <a:ext cx="292608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4D6D"/>
                </a:solidFill>
                <a:latin typeface="Aptos Display"/>
              </a:rPr>
              <a:t>12,3 juta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2359152"/>
            <a:ext cx="2926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EAF6FF"/>
                </a:solidFill>
                <a:latin typeface="Aptos"/>
              </a:rPr>
              <a:t>orang melakukan deposit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" y="3337560"/>
            <a:ext cx="10835640" cy="1463040"/>
          </a:xfrm>
          <a:prstGeom prst="roundRect">
            <a:avLst/>
          </a:prstGeom>
          <a:solidFill>
            <a:srgbClr val="081B36"/>
          </a:solidFill>
          <a:ln w="12700"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public_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657600"/>
            <a:ext cx="402336" cy="40233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435608" y="3611880"/>
            <a:ext cx="100584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Laporan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masyarakat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368296" y="3858768"/>
            <a:ext cx="493776" cy="0"/>
          </a:xfrm>
          <a:prstGeom prst="line">
            <a:avLst/>
          </a:prstGeom>
          <a:ln w="1524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Isosceles Triangle 44"/>
          <p:cNvSpPr/>
          <p:nvPr/>
        </p:nvSpPr>
        <p:spPr>
          <a:xfrm rot="5400000">
            <a:off x="2802636" y="3799331"/>
            <a:ext cx="118872" cy="118872"/>
          </a:xfrm>
          <a:prstGeom prst="triangl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 descr="web_crawl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4952" y="3657600"/>
            <a:ext cx="402336" cy="402336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3520440" y="3611880"/>
            <a:ext cx="100584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Crawler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finding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453128" y="3858768"/>
            <a:ext cx="493776" cy="0"/>
          </a:xfrm>
          <a:prstGeom prst="line">
            <a:avLst/>
          </a:prstGeom>
          <a:ln w="1524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Isosceles Triangle 48"/>
          <p:cNvSpPr/>
          <p:nvPr/>
        </p:nvSpPr>
        <p:spPr>
          <a:xfrm rot="5400000">
            <a:off x="4887468" y="3799331"/>
            <a:ext cx="118872" cy="118872"/>
          </a:xfrm>
          <a:prstGeom prst="triangl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0" name="Picture 49" descr="transaction_monitor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9783" y="3657600"/>
            <a:ext cx="402336" cy="402336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605271" y="3611880"/>
            <a:ext cx="100584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Transaksi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simulasi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537959" y="3858768"/>
            <a:ext cx="493777" cy="0"/>
          </a:xfrm>
          <a:prstGeom prst="line">
            <a:avLst/>
          </a:prstGeom>
          <a:ln w="1524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Isosceles Triangle 52"/>
          <p:cNvSpPr/>
          <p:nvPr/>
        </p:nvSpPr>
        <p:spPr>
          <a:xfrm rot="5400000">
            <a:off x="6972299" y="3799331"/>
            <a:ext cx="118872" cy="118872"/>
          </a:xfrm>
          <a:prstGeom prst="triangl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4" name="Picture 53" descr="risk_sco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4616" y="3657600"/>
            <a:ext cx="402336" cy="402336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690104" y="3611880"/>
            <a:ext cx="100584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Skor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risiko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622792" y="3858768"/>
            <a:ext cx="493775" cy="0"/>
          </a:xfrm>
          <a:prstGeom prst="line">
            <a:avLst/>
          </a:prstGeom>
          <a:ln w="1524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Isosceles Triangle 56"/>
          <p:cNvSpPr/>
          <p:nvPr/>
        </p:nvSpPr>
        <p:spPr>
          <a:xfrm rot="5400000">
            <a:off x="9057132" y="3799331"/>
            <a:ext cx="118872" cy="118872"/>
          </a:xfrm>
          <a:prstGeom prst="triangl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8" name="Picture 57" descr="dash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9448" y="3657600"/>
            <a:ext cx="402336" cy="402336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9774936" y="3611880"/>
            <a:ext cx="100584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Dashboard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prioritas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" y="5285232"/>
            <a:ext cx="9966960" cy="31701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dirty="0" err="1">
                <a:solidFill>
                  <a:srgbClr val="EAF6FF"/>
                </a:solidFill>
                <a:latin typeface="Aptos Display"/>
              </a:rPr>
              <a:t>Intinya</a:t>
            </a:r>
            <a:r>
              <a:rPr sz="1700" b="1" dirty="0">
                <a:solidFill>
                  <a:srgbClr val="EAF6FF"/>
                </a:solidFill>
                <a:latin typeface="Aptos Display"/>
              </a:rPr>
              <a:t>: </a:t>
            </a:r>
            <a:r>
              <a:rPr sz="1700" b="1" dirty="0" err="1">
                <a:solidFill>
                  <a:srgbClr val="EAF6FF"/>
                </a:solidFill>
                <a:latin typeface="Aptos Display"/>
              </a:rPr>
              <a:t>setiap</a:t>
            </a:r>
            <a:r>
              <a:rPr sz="1700" b="1" dirty="0">
                <a:solidFill>
                  <a:srgbClr val="EAF6FF"/>
                </a:solidFill>
                <a:latin typeface="Aptos Display"/>
              </a:rPr>
              <a:t> </a:t>
            </a:r>
            <a:r>
              <a:rPr sz="1700" b="1" dirty="0" err="1">
                <a:solidFill>
                  <a:srgbClr val="EAF6FF"/>
                </a:solidFill>
                <a:latin typeface="Aptos Display"/>
              </a:rPr>
              <a:t>entitas</a:t>
            </a:r>
            <a:r>
              <a:rPr sz="1700" b="1" dirty="0">
                <a:solidFill>
                  <a:srgbClr val="EAF6FF"/>
                </a:solidFill>
                <a:latin typeface="Aptos Display"/>
              </a:rPr>
              <a:t> </a:t>
            </a:r>
            <a:r>
              <a:rPr sz="1700" b="1" dirty="0" err="1">
                <a:solidFill>
                  <a:srgbClr val="EAF6FF"/>
                </a:solidFill>
                <a:latin typeface="Aptos Display"/>
              </a:rPr>
              <a:t>terlihat</a:t>
            </a:r>
            <a:r>
              <a:rPr sz="1700" b="1" dirty="0">
                <a:solidFill>
                  <a:srgbClr val="EAF6FF"/>
                </a:solidFill>
                <a:latin typeface="Aptos Display"/>
              </a:rPr>
              <a:t> </a:t>
            </a:r>
            <a:r>
              <a:rPr sz="1700" b="1" dirty="0" err="1">
                <a:solidFill>
                  <a:srgbClr val="EAF6FF"/>
                </a:solidFill>
                <a:latin typeface="Aptos Display"/>
              </a:rPr>
              <a:t>terpisah</a:t>
            </a:r>
            <a:r>
              <a:rPr sz="1700" b="1" dirty="0">
                <a:solidFill>
                  <a:srgbClr val="EAF6FF"/>
                </a:solidFill>
                <a:latin typeface="Aptos Display"/>
              </a:rPr>
              <a:t>, </a:t>
            </a:r>
            <a:r>
              <a:rPr sz="1700" b="1" dirty="0" err="1">
                <a:solidFill>
                  <a:srgbClr val="EAF6FF"/>
                </a:solidFill>
                <a:latin typeface="Aptos Display"/>
              </a:rPr>
              <a:t>sementara</a:t>
            </a:r>
            <a:r>
              <a:rPr sz="1700" b="1" dirty="0">
                <a:solidFill>
                  <a:srgbClr val="EAF6FF"/>
                </a:solidFill>
                <a:latin typeface="Aptos Display"/>
              </a:rPr>
              <a:t> </a:t>
            </a:r>
            <a:r>
              <a:rPr sz="1700" b="1" dirty="0" err="1">
                <a:solidFill>
                  <a:srgbClr val="EAF6FF"/>
                </a:solidFill>
                <a:latin typeface="Aptos Display"/>
              </a:rPr>
              <a:t>pelaku</a:t>
            </a:r>
            <a:r>
              <a:rPr sz="1700" b="1" dirty="0">
                <a:solidFill>
                  <a:srgbClr val="EAF6FF"/>
                </a:solidFill>
                <a:latin typeface="Aptos Display"/>
              </a:rPr>
              <a:t> </a:t>
            </a:r>
            <a:r>
              <a:rPr sz="1700" b="1" dirty="0" err="1">
                <a:solidFill>
                  <a:srgbClr val="EAF6FF"/>
                </a:solidFill>
                <a:latin typeface="Aptos Display"/>
              </a:rPr>
              <a:t>berpindah</a:t>
            </a:r>
            <a:r>
              <a:rPr sz="1700" b="1" dirty="0">
                <a:solidFill>
                  <a:srgbClr val="EAF6FF"/>
                </a:solidFill>
                <a:latin typeface="Aptos Display"/>
              </a:rPr>
              <a:t> domain, </a:t>
            </a:r>
            <a:r>
              <a:rPr sz="1700" b="1" dirty="0" err="1">
                <a:solidFill>
                  <a:srgbClr val="EAF6FF"/>
                </a:solidFill>
                <a:latin typeface="Aptos Display"/>
              </a:rPr>
              <a:t>nomor</a:t>
            </a:r>
            <a:r>
              <a:rPr sz="1700" b="1" dirty="0">
                <a:solidFill>
                  <a:srgbClr val="EAF6FF"/>
                </a:solidFill>
                <a:latin typeface="Aptos Display"/>
              </a:rPr>
              <a:t>, </a:t>
            </a:r>
            <a:r>
              <a:rPr sz="1700" b="1" dirty="0" err="1">
                <a:solidFill>
                  <a:srgbClr val="EAF6FF"/>
                </a:solidFill>
                <a:latin typeface="Aptos Display"/>
              </a:rPr>
              <a:t>rekening</a:t>
            </a:r>
            <a:r>
              <a:rPr sz="1700" b="1" dirty="0">
                <a:solidFill>
                  <a:srgbClr val="EAF6FF"/>
                </a:solidFill>
                <a:latin typeface="Aptos Display"/>
              </a:rPr>
              <a:t>, dan </a:t>
            </a:r>
            <a:r>
              <a:rPr sz="1700" b="1" dirty="0" err="1">
                <a:solidFill>
                  <a:srgbClr val="EAF6FF"/>
                </a:solidFill>
                <a:latin typeface="Aptos Display"/>
              </a:rPr>
              <a:t>aplikasi</a:t>
            </a:r>
            <a:r>
              <a:rPr sz="1700" b="1" dirty="0">
                <a:solidFill>
                  <a:srgbClr val="EAF6FF"/>
                </a:solidFill>
                <a:latin typeface="Aptos Display"/>
              </a:rPr>
              <a:t>.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30352" y="6446520"/>
            <a:ext cx="11128248" cy="0"/>
          </a:xfrm>
          <a:prstGeom prst="line">
            <a:avLst/>
          </a:prstGeom>
          <a:ln w="889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30352" y="6501384"/>
            <a:ext cx="80467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93A8C5"/>
                </a:solidFill>
                <a:latin typeface="Aptos"/>
              </a:rPr>
              <a:t>Sumber: PPATK, Catatan Capaian Strategis Tahun 2025, 28 Jan 2026.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789920" y="6473952"/>
            <a:ext cx="868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8D9FF"/>
                </a:solidFill>
                <a:latin typeface="Aptos"/>
              </a:rPr>
              <a:t>02 / 10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980" y="0"/>
            <a:ext cx="12191999" cy="6858000"/>
          </a:xfrm>
          <a:prstGeom prst="rect">
            <a:avLst/>
          </a:prstGeom>
          <a:solidFill>
            <a:srgbClr val="06142B"/>
          </a:solidFill>
          <a:ln>
            <a:solidFill>
              <a:srgbClr val="061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9728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19456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109728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-1372" y="219456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438912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502920"/>
            <a:ext cx="1600200" cy="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109960" y="502920"/>
            <a:ext cx="0" cy="54864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287000" y="1051560"/>
            <a:ext cx="822960" cy="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477756" y="47091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077956" y="47091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077956" y="101955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254996" y="101955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530352" y="6446520"/>
            <a:ext cx="11128248" cy="0"/>
          </a:xfrm>
          <a:prstGeom prst="line">
            <a:avLst/>
          </a:prstGeom>
          <a:ln w="889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30352" y="6501384"/>
            <a:ext cx="80467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789920" y="6473952"/>
            <a:ext cx="868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8D9FF"/>
                </a:solidFill>
                <a:latin typeface="Aptos"/>
              </a:rPr>
              <a:t>03 / 10</a:t>
            </a:r>
          </a:p>
        </p:txBody>
      </p:sp>
      <p:sp>
        <p:nvSpPr>
          <p:cNvPr id="28" name="kicker-marker"/>
          <p:cNvSpPr/>
          <p:nvPr/>
        </p:nvSpPr>
        <p:spPr>
          <a:xfrm>
            <a:off x="530352" y="402336"/>
            <a:ext cx="109728" cy="109728"/>
          </a:xfrm>
          <a:prstGeom prst="rect">
            <a:avLst/>
          </a:prstGeom>
          <a:solidFill>
            <a:srgbClr val="38D9FF"/>
          </a:solidFill>
          <a:ln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kicker-label"/>
          <p:cNvSpPr txBox="1"/>
          <p:nvPr/>
        </p:nvSpPr>
        <p:spPr>
          <a:xfrm>
            <a:off x="713232" y="329184"/>
            <a:ext cx="356616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8D9FF"/>
                </a:solidFill>
                <a:latin typeface="Aptos"/>
              </a:rPr>
              <a:t>EXISTING SYSTEM AND GAP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3" y="713232"/>
            <a:ext cx="7955279" cy="8863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dirty="0" err="1">
                <a:solidFill>
                  <a:srgbClr val="EAF6FF"/>
                </a:solidFill>
                <a:latin typeface="Aptos Display"/>
              </a:rPr>
              <a:t>Sistem</a:t>
            </a:r>
            <a:r>
              <a:rPr sz="2700" b="1" dirty="0">
                <a:solidFill>
                  <a:srgbClr val="EAF6FF"/>
                </a:solidFill>
                <a:latin typeface="Aptos Display"/>
              </a:rPr>
              <a:t> existing </a:t>
            </a:r>
            <a:r>
              <a:rPr sz="2700" b="1" dirty="0" err="1">
                <a:solidFill>
                  <a:srgbClr val="EAF6FF"/>
                </a:solidFill>
                <a:latin typeface="Aptos Display"/>
              </a:rPr>
              <a:t>kuat</a:t>
            </a:r>
            <a:r>
              <a:rPr sz="2700" b="1" dirty="0">
                <a:solidFill>
                  <a:srgbClr val="EAF6FF"/>
                </a:solidFill>
                <a:latin typeface="Aptos Display"/>
              </a:rPr>
              <a:t>, </a:t>
            </a:r>
            <a:r>
              <a:rPr sz="2700" b="1" dirty="0" err="1">
                <a:solidFill>
                  <a:srgbClr val="EAF6FF"/>
                </a:solidFill>
                <a:latin typeface="Aptos Display"/>
              </a:rPr>
              <a:t>tetapi</a:t>
            </a:r>
            <a:r>
              <a:rPr sz="2700" b="1" dirty="0">
                <a:solidFill>
                  <a:srgbClr val="EAF6FF"/>
                </a:solidFill>
                <a:latin typeface="Aptos Display"/>
              </a:rPr>
              <a:t> </a:t>
            </a:r>
            <a:r>
              <a:rPr sz="2700" b="1" dirty="0" err="1">
                <a:solidFill>
                  <a:srgbClr val="EAF6FF"/>
                </a:solidFill>
                <a:latin typeface="Aptos Display"/>
              </a:rPr>
              <a:t>relasi</a:t>
            </a:r>
            <a:r>
              <a:rPr sz="2700" b="1" dirty="0">
                <a:solidFill>
                  <a:srgbClr val="EAF6FF"/>
                </a:solidFill>
                <a:latin typeface="Aptos Display"/>
              </a:rPr>
              <a:t> </a:t>
            </a:r>
            <a:r>
              <a:rPr sz="2700" b="1" dirty="0" err="1">
                <a:solidFill>
                  <a:srgbClr val="EAF6FF"/>
                </a:solidFill>
                <a:latin typeface="Aptos Display"/>
              </a:rPr>
              <a:t>lintas</a:t>
            </a:r>
            <a:r>
              <a:rPr sz="2700" b="1" dirty="0">
                <a:solidFill>
                  <a:srgbClr val="EAF6FF"/>
                </a:solidFill>
                <a:latin typeface="Aptos Display"/>
              </a:rPr>
              <a:t> </a:t>
            </a:r>
            <a:r>
              <a:rPr sz="2700" b="1" dirty="0" err="1">
                <a:solidFill>
                  <a:srgbClr val="EAF6FF"/>
                </a:solidFill>
                <a:latin typeface="Aptos Display"/>
              </a:rPr>
              <a:t>ekosistem</a:t>
            </a:r>
            <a:r>
              <a:rPr sz="2700" b="1" dirty="0">
                <a:solidFill>
                  <a:srgbClr val="EAF6FF"/>
                </a:solidFill>
                <a:latin typeface="Aptos Display"/>
              </a:rPr>
              <a:t> </a:t>
            </a:r>
            <a:r>
              <a:rPr sz="2700" b="1" dirty="0" err="1">
                <a:solidFill>
                  <a:srgbClr val="EAF6FF"/>
                </a:solidFill>
                <a:latin typeface="Aptos Display"/>
              </a:rPr>
              <a:t>belum</a:t>
            </a:r>
            <a:r>
              <a:rPr sz="2700" b="1" dirty="0">
                <a:solidFill>
                  <a:srgbClr val="EAF6FF"/>
                </a:solidFill>
                <a:latin typeface="Aptos Display"/>
              </a:rPr>
              <a:t> </a:t>
            </a:r>
            <a:r>
              <a:rPr sz="2700" b="1" dirty="0" err="1">
                <a:solidFill>
                  <a:srgbClr val="EAF6FF"/>
                </a:solidFill>
                <a:latin typeface="Aptos Display"/>
              </a:rPr>
              <a:t>menjadi</a:t>
            </a:r>
            <a:r>
              <a:rPr sz="2700" b="1" dirty="0">
                <a:solidFill>
                  <a:srgbClr val="EAF6FF"/>
                </a:solidFill>
                <a:latin typeface="Aptos Display"/>
              </a:rPr>
              <a:t> </a:t>
            </a:r>
            <a:r>
              <a:rPr sz="2700" b="1" dirty="0" err="1">
                <a:solidFill>
                  <a:srgbClr val="EAF6FF"/>
                </a:solidFill>
                <a:latin typeface="Aptos Display"/>
              </a:rPr>
              <a:t>pusat</a:t>
            </a:r>
            <a:r>
              <a:rPr sz="2700" b="1" dirty="0">
                <a:solidFill>
                  <a:srgbClr val="EAF6FF"/>
                </a:solidFill>
                <a:latin typeface="Aptos Display"/>
              </a:rPr>
              <a:t> </a:t>
            </a:r>
            <a:r>
              <a:rPr sz="2700" b="1" dirty="0" err="1">
                <a:solidFill>
                  <a:srgbClr val="EAF6FF"/>
                </a:solidFill>
                <a:latin typeface="Aptos Display"/>
              </a:rPr>
              <a:t>analisis</a:t>
            </a:r>
            <a:r>
              <a:rPr sz="2700" b="1" dirty="0">
                <a:solidFill>
                  <a:srgbClr val="EAF6FF"/>
                </a:solidFill>
                <a:latin typeface="Aptos Display"/>
              </a:rPr>
              <a:t>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656" y="2194560"/>
            <a:ext cx="5166360" cy="4005072"/>
          </a:xfrm>
          <a:prstGeom prst="roundRect">
            <a:avLst/>
          </a:prstGeom>
          <a:solidFill>
            <a:srgbClr val="081B36"/>
          </a:solidFill>
          <a:ln w="12700"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199632" y="2194560"/>
            <a:ext cx="5166360" cy="4005072"/>
          </a:xfrm>
          <a:prstGeom prst="roundRect">
            <a:avLst/>
          </a:prstGeom>
          <a:solidFill>
            <a:srgbClr val="081B36"/>
          </a:solidFill>
          <a:ln w="12700"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93056" y="2437720"/>
            <a:ext cx="466344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dirty="0" err="1">
                <a:solidFill>
                  <a:srgbClr val="93A8C5"/>
                </a:solidFill>
                <a:latin typeface="Aptos Display"/>
              </a:rPr>
              <a:t>Sistem</a:t>
            </a:r>
            <a:r>
              <a:rPr sz="1800" b="1" dirty="0">
                <a:solidFill>
                  <a:srgbClr val="93A8C5"/>
                </a:solidFill>
                <a:latin typeface="Aptos Display"/>
              </a:rPr>
              <a:t> Existing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37376" y="2414016"/>
            <a:ext cx="466344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38D9FF"/>
                </a:solidFill>
                <a:latin typeface="Aptos Display"/>
              </a:rPr>
              <a:t>SATPAM</a:t>
            </a:r>
          </a:p>
        </p:txBody>
      </p:sp>
      <p:cxnSp>
        <p:nvCxnSpPr>
          <p:cNvPr id="36" name="Connector 35"/>
          <p:cNvCxnSpPr>
            <a:cxnSpLocks/>
          </p:cNvCxnSpPr>
          <p:nvPr/>
        </p:nvCxnSpPr>
        <p:spPr>
          <a:xfrm>
            <a:off x="974768" y="2894920"/>
            <a:ext cx="4800600" cy="0"/>
          </a:xfrm>
          <a:prstGeom prst="line">
            <a:avLst/>
          </a:prstGeom>
          <a:ln w="635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419088" y="2871216"/>
            <a:ext cx="4800600" cy="0"/>
          </a:xfrm>
          <a:prstGeom prst="line">
            <a:avLst/>
          </a:prstGeom>
          <a:ln w="635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029632" y="2986360"/>
            <a:ext cx="4572000" cy="2277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dirty="0" err="1">
                <a:solidFill>
                  <a:srgbClr val="EAF6FF"/>
                </a:solidFill>
                <a:latin typeface="Aptos"/>
              </a:rPr>
              <a:t>Fokus</a:t>
            </a:r>
            <a:r>
              <a:rPr sz="1120" b="0" dirty="0">
                <a:solidFill>
                  <a:srgbClr val="EAF6FF"/>
                </a:solidFill>
                <a:latin typeface="Aptos"/>
              </a:rPr>
              <a:t> domain masing-masing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3952" y="2962656"/>
            <a:ext cx="457200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dirty="0" err="1">
                <a:solidFill>
                  <a:srgbClr val="EAF6FF"/>
                </a:solidFill>
                <a:latin typeface="Aptos"/>
              </a:rPr>
              <a:t>Konten</a:t>
            </a:r>
            <a:r>
              <a:rPr sz="1120" b="0" dirty="0">
                <a:solidFill>
                  <a:srgbClr val="EAF6FF"/>
                </a:solidFill>
                <a:latin typeface="Aptos"/>
              </a:rPr>
              <a:t>, </a:t>
            </a:r>
            <a:r>
              <a:rPr sz="1120" b="0" dirty="0" err="1">
                <a:solidFill>
                  <a:srgbClr val="EAF6FF"/>
                </a:solidFill>
                <a:latin typeface="Aptos"/>
              </a:rPr>
              <a:t>laporan</a:t>
            </a:r>
            <a:r>
              <a:rPr sz="1120" b="0" dirty="0">
                <a:solidFill>
                  <a:srgbClr val="EAF6FF"/>
                </a:solidFill>
                <a:latin typeface="Aptos"/>
              </a:rPr>
              <a:t>, </a:t>
            </a:r>
            <a:r>
              <a:rPr sz="1120" b="0" dirty="0" err="1">
                <a:solidFill>
                  <a:srgbClr val="EAF6FF"/>
                </a:solidFill>
                <a:latin typeface="Aptos"/>
              </a:rPr>
              <a:t>transaksi</a:t>
            </a:r>
            <a:r>
              <a:rPr sz="1120" b="0" dirty="0">
                <a:solidFill>
                  <a:srgbClr val="EAF6FF"/>
                </a:solidFill>
                <a:latin typeface="Aptos"/>
              </a:rPr>
              <a:t>, </a:t>
            </a:r>
            <a:r>
              <a:rPr sz="1120" b="0" dirty="0" err="1">
                <a:solidFill>
                  <a:srgbClr val="EAF6FF"/>
                </a:solidFill>
                <a:latin typeface="Aptos"/>
              </a:rPr>
              <a:t>aplikasi</a:t>
            </a:r>
            <a:r>
              <a:rPr sz="1120" b="0" dirty="0">
                <a:solidFill>
                  <a:srgbClr val="EAF6FF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EAF6FF"/>
                </a:solidFill>
                <a:latin typeface="Aptos"/>
              </a:rPr>
              <a:t>dianalisis</a:t>
            </a:r>
            <a:r>
              <a:rPr sz="1120" b="0" dirty="0">
                <a:solidFill>
                  <a:srgbClr val="EAF6FF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EAF6FF"/>
                </a:solidFill>
                <a:latin typeface="Aptos"/>
              </a:rPr>
              <a:t>sebagai</a:t>
            </a:r>
            <a:r>
              <a:rPr sz="1120" b="0" dirty="0">
                <a:solidFill>
                  <a:srgbClr val="EAF6FF"/>
                </a:solidFill>
                <a:latin typeface="Aptos"/>
              </a:rPr>
              <a:t> graph </a:t>
            </a:r>
            <a:r>
              <a:rPr sz="1120" b="0" dirty="0" err="1">
                <a:solidFill>
                  <a:srgbClr val="EAF6FF"/>
                </a:solidFill>
                <a:latin typeface="Aptos"/>
              </a:rPr>
              <a:t>terpadu</a:t>
            </a:r>
            <a:endParaRPr sz="1120" b="0" dirty="0">
              <a:solidFill>
                <a:srgbClr val="EAF6FF"/>
              </a:solidFill>
              <a:latin typeface="Aptos"/>
            </a:endParaRPr>
          </a:p>
        </p:txBody>
      </p:sp>
      <p:cxnSp>
        <p:nvCxnSpPr>
          <p:cNvPr id="40" name="Connector 39"/>
          <p:cNvCxnSpPr>
            <a:cxnSpLocks/>
          </p:cNvCxnSpPr>
          <p:nvPr/>
        </p:nvCxnSpPr>
        <p:spPr>
          <a:xfrm>
            <a:off x="974768" y="3571576"/>
            <a:ext cx="4800600" cy="0"/>
          </a:xfrm>
          <a:prstGeom prst="line">
            <a:avLst/>
          </a:prstGeom>
          <a:ln w="635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419088" y="3547872"/>
            <a:ext cx="4800600" cy="0"/>
          </a:xfrm>
          <a:prstGeom prst="line">
            <a:avLst/>
          </a:prstGeom>
          <a:ln w="635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029632" y="3663016"/>
            <a:ext cx="4572000" cy="2277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EAF6FF"/>
                </a:solidFill>
                <a:latin typeface="Aptos"/>
              </a:rPr>
              <a:t>Output: blokir, laporan, atau tindak lanjut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3952" y="3639312"/>
            <a:ext cx="457200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EAF6FF"/>
                </a:solidFill>
                <a:latin typeface="Aptos"/>
              </a:rPr>
              <a:t>Output: evidence path, cluster, skor risiko, prioritas</a:t>
            </a:r>
          </a:p>
        </p:txBody>
      </p:sp>
      <p:cxnSp>
        <p:nvCxnSpPr>
          <p:cNvPr id="44" name="Connector 43"/>
          <p:cNvCxnSpPr>
            <a:cxnSpLocks/>
          </p:cNvCxnSpPr>
          <p:nvPr/>
        </p:nvCxnSpPr>
        <p:spPr>
          <a:xfrm>
            <a:off x="974768" y="4248232"/>
            <a:ext cx="4800600" cy="0"/>
          </a:xfrm>
          <a:prstGeom prst="line">
            <a:avLst/>
          </a:prstGeom>
          <a:ln w="635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419088" y="4224528"/>
            <a:ext cx="4800600" cy="0"/>
          </a:xfrm>
          <a:prstGeom prst="line">
            <a:avLst/>
          </a:prstGeom>
          <a:ln w="635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029632" y="4339672"/>
            <a:ext cx="4572000" cy="2277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EAF6FF"/>
                </a:solidFill>
                <a:latin typeface="Aptos"/>
              </a:rPr>
              <a:t>Cenderung reaktif setelah entitas ditemukan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73952" y="4315968"/>
            <a:ext cx="457200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EAF6FF"/>
                </a:solidFill>
                <a:latin typeface="Aptos"/>
              </a:rPr>
              <a:t>Early warning berbasis pola dan kemiripan jaringan</a:t>
            </a:r>
          </a:p>
        </p:txBody>
      </p:sp>
      <p:cxnSp>
        <p:nvCxnSpPr>
          <p:cNvPr id="48" name="Connector 47"/>
          <p:cNvCxnSpPr>
            <a:cxnSpLocks/>
          </p:cNvCxnSpPr>
          <p:nvPr/>
        </p:nvCxnSpPr>
        <p:spPr>
          <a:xfrm>
            <a:off x="974768" y="4924888"/>
            <a:ext cx="4800600" cy="0"/>
          </a:xfrm>
          <a:prstGeom prst="line">
            <a:avLst/>
          </a:prstGeom>
          <a:ln w="635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419088" y="4901184"/>
            <a:ext cx="4800600" cy="0"/>
          </a:xfrm>
          <a:prstGeom prst="line">
            <a:avLst/>
          </a:prstGeom>
          <a:ln w="635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029632" y="5016328"/>
            <a:ext cx="4572000" cy="2277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dirty="0" err="1">
                <a:solidFill>
                  <a:srgbClr val="EAF6FF"/>
                </a:solidFill>
                <a:latin typeface="Aptos"/>
              </a:rPr>
              <a:t>Relasi</a:t>
            </a:r>
            <a:r>
              <a:rPr sz="1120" b="0" dirty="0">
                <a:solidFill>
                  <a:srgbClr val="EAF6FF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EAF6FF"/>
                </a:solidFill>
                <a:latin typeface="Aptos"/>
              </a:rPr>
              <a:t>lintas</a:t>
            </a:r>
            <a:r>
              <a:rPr sz="1120" b="0" dirty="0">
                <a:solidFill>
                  <a:srgbClr val="EAF6FF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EAF6FF"/>
                </a:solidFill>
                <a:latin typeface="Aptos"/>
              </a:rPr>
              <a:t>kanal</a:t>
            </a:r>
            <a:r>
              <a:rPr sz="1120" b="0" dirty="0">
                <a:solidFill>
                  <a:srgbClr val="EAF6FF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EAF6FF"/>
                </a:solidFill>
                <a:latin typeface="Aptos"/>
              </a:rPr>
              <a:t>sulit</a:t>
            </a:r>
            <a:r>
              <a:rPr sz="1120" b="0" dirty="0">
                <a:solidFill>
                  <a:srgbClr val="EAF6FF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EAF6FF"/>
                </a:solidFill>
                <a:latin typeface="Aptos"/>
              </a:rPr>
              <a:t>terlihat</a:t>
            </a:r>
            <a:endParaRPr sz="1120" b="0" dirty="0">
              <a:solidFill>
                <a:srgbClr val="EAF6FF"/>
              </a:solidFill>
              <a:latin typeface="Apto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473952" y="4992624"/>
            <a:ext cx="457200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dirty="0">
                <a:solidFill>
                  <a:srgbClr val="EAF6FF"/>
                </a:solidFill>
                <a:latin typeface="Aptos"/>
              </a:rPr>
              <a:t>Domain-WA-</a:t>
            </a:r>
            <a:r>
              <a:rPr sz="1120" b="0" dirty="0" err="1">
                <a:solidFill>
                  <a:srgbClr val="EAF6FF"/>
                </a:solidFill>
                <a:latin typeface="Aptos"/>
              </a:rPr>
              <a:t>rekening</a:t>
            </a:r>
            <a:r>
              <a:rPr sz="1120" b="0" dirty="0">
                <a:solidFill>
                  <a:srgbClr val="EAF6FF"/>
                </a:solidFill>
                <a:latin typeface="Aptos"/>
              </a:rPr>
              <a:t>-APK-</a:t>
            </a:r>
            <a:r>
              <a:rPr sz="1120" b="0" dirty="0" err="1">
                <a:solidFill>
                  <a:srgbClr val="EAF6FF"/>
                </a:solidFill>
                <a:latin typeface="Aptos"/>
              </a:rPr>
              <a:t>laporan</a:t>
            </a:r>
            <a:r>
              <a:rPr sz="1120" b="0" dirty="0">
                <a:solidFill>
                  <a:srgbClr val="EAF6FF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EAF6FF"/>
                </a:solidFill>
                <a:latin typeface="Aptos"/>
              </a:rPr>
              <a:t>dapat</a:t>
            </a:r>
            <a:r>
              <a:rPr sz="1120" b="0" dirty="0">
                <a:solidFill>
                  <a:srgbClr val="EAF6FF"/>
                </a:solidFill>
                <a:latin typeface="Aptos"/>
              </a:rPr>
              <a:t> </a:t>
            </a:r>
            <a:r>
              <a:rPr sz="1120" b="0" dirty="0" err="1">
                <a:solidFill>
                  <a:srgbClr val="EAF6FF"/>
                </a:solidFill>
                <a:latin typeface="Aptos"/>
              </a:rPr>
              <a:t>ditelusuri</a:t>
            </a:r>
            <a:endParaRPr sz="1120" b="0" dirty="0">
              <a:solidFill>
                <a:srgbClr val="EAF6FF"/>
              </a:solidFill>
              <a:latin typeface="Aptos"/>
            </a:endParaRPr>
          </a:p>
        </p:txBody>
      </p:sp>
      <p:cxnSp>
        <p:nvCxnSpPr>
          <p:cNvPr id="52" name="Connector 51"/>
          <p:cNvCxnSpPr>
            <a:cxnSpLocks/>
          </p:cNvCxnSpPr>
          <p:nvPr/>
        </p:nvCxnSpPr>
        <p:spPr>
          <a:xfrm>
            <a:off x="974768" y="5601544"/>
            <a:ext cx="4800600" cy="0"/>
          </a:xfrm>
          <a:prstGeom prst="line">
            <a:avLst/>
          </a:prstGeom>
          <a:ln w="635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6419088" y="5577840"/>
            <a:ext cx="4800600" cy="0"/>
          </a:xfrm>
          <a:prstGeom prst="line">
            <a:avLst/>
          </a:prstGeom>
          <a:ln w="635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029632" y="5692984"/>
            <a:ext cx="4572000" cy="2277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EAF6FF"/>
                </a:solidFill>
                <a:latin typeface="Aptos"/>
              </a:rPr>
              <a:t>Keputusan rawan overclaim jika otomatis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73952" y="5669280"/>
            <a:ext cx="457200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dirty="0">
                <a:solidFill>
                  <a:srgbClr val="EAF6FF"/>
                </a:solidFill>
                <a:latin typeface="Aptos"/>
              </a:rPr>
              <a:t>Human verification </a:t>
            </a:r>
            <a:r>
              <a:rPr sz="1120" b="0" dirty="0" err="1">
                <a:solidFill>
                  <a:srgbClr val="EAF6FF"/>
                </a:solidFill>
                <a:latin typeface="Aptos"/>
              </a:rPr>
              <a:t>sebelum</a:t>
            </a:r>
            <a:r>
              <a:rPr sz="1120" b="0" dirty="0">
                <a:solidFill>
                  <a:srgbClr val="EAF6FF"/>
                </a:solidFill>
                <a:latin typeface="Aptos"/>
              </a:rPr>
              <a:t> status final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30352" y="6446520"/>
            <a:ext cx="11128248" cy="0"/>
          </a:xfrm>
          <a:prstGeom prst="line">
            <a:avLst/>
          </a:prstGeom>
          <a:ln w="889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30352" y="6501384"/>
            <a:ext cx="80467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93A8C5"/>
                </a:solidFill>
                <a:latin typeface="Aptos"/>
              </a:rPr>
              <a:t>Sumber: Komdigi, OJK/IASC, PPATK, dan dokumen proposal SATPAM.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789920" y="6473952"/>
            <a:ext cx="868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8D9FF"/>
                </a:solidFill>
                <a:latin typeface="Aptos"/>
              </a:rPr>
              <a:t>03 / 10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142B"/>
          </a:solidFill>
          <a:ln>
            <a:solidFill>
              <a:srgbClr val="061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9728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19456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109728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438912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502920"/>
            <a:ext cx="1600200" cy="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109960" y="502920"/>
            <a:ext cx="0" cy="54864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287000" y="1051560"/>
            <a:ext cx="822960" cy="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477756" y="47091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077956" y="47091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077956" y="101955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254996" y="101955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530352" y="6446520"/>
            <a:ext cx="11128248" cy="0"/>
          </a:xfrm>
          <a:prstGeom prst="line">
            <a:avLst/>
          </a:prstGeom>
          <a:ln w="889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30352" y="6501384"/>
            <a:ext cx="80467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789920" y="6473952"/>
            <a:ext cx="868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8D9FF"/>
                </a:solidFill>
                <a:latin typeface="Aptos"/>
              </a:rPr>
              <a:t>04 / 10</a:t>
            </a:r>
          </a:p>
        </p:txBody>
      </p:sp>
      <p:sp>
        <p:nvSpPr>
          <p:cNvPr id="28" name="kicker-marker"/>
          <p:cNvSpPr/>
          <p:nvPr/>
        </p:nvSpPr>
        <p:spPr>
          <a:xfrm>
            <a:off x="530352" y="402336"/>
            <a:ext cx="109728" cy="109728"/>
          </a:xfrm>
          <a:prstGeom prst="rect">
            <a:avLst/>
          </a:prstGeom>
          <a:solidFill>
            <a:srgbClr val="38D9FF"/>
          </a:solidFill>
          <a:ln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kicker-label"/>
          <p:cNvSpPr txBox="1"/>
          <p:nvPr/>
        </p:nvSpPr>
        <p:spPr>
          <a:xfrm>
            <a:off x="713232" y="329184"/>
            <a:ext cx="356616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8D9FF"/>
                </a:solidFill>
                <a:latin typeface="Aptos"/>
              </a:rPr>
              <a:t>RUMUSAN MASALAH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" y="713232"/>
            <a:ext cx="7863840" cy="6766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EAF6FF"/>
                </a:solidFill>
                <a:latin typeface="Aptos Display"/>
              </a:rPr>
              <a:t>Bagaimana sinyal tersebar menjadi jalur risiko yang dapat dijelaskan?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423160" y="2304287"/>
            <a:ext cx="3657600" cy="749809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77240" y="1874519"/>
            <a:ext cx="3246120" cy="859536"/>
          </a:xfrm>
          <a:prstGeom prst="roundRect">
            <a:avLst/>
          </a:prstGeom>
          <a:solidFill>
            <a:srgbClr val="081B36"/>
          </a:solidFill>
          <a:ln w="12700"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60120" y="2139695"/>
            <a:ext cx="329184" cy="329184"/>
          </a:xfrm>
          <a:prstGeom prst="ellipse">
            <a:avLst/>
          </a:prstGeom>
          <a:solidFill>
            <a:srgbClr val="38D9FF"/>
          </a:solidFill>
          <a:ln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4" name="Connector 43"/>
          <p:cNvCxnSpPr>
            <a:cxnSpLocks/>
          </p:cNvCxnSpPr>
          <p:nvPr/>
        </p:nvCxnSpPr>
        <p:spPr>
          <a:xfrm flipH="1">
            <a:off x="6208776" y="2304287"/>
            <a:ext cx="3621024" cy="713234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14983" y="2194560"/>
            <a:ext cx="2286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6142B"/>
                </a:solidFill>
                <a:latin typeface="Aptos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99032" y="2048255"/>
            <a:ext cx="2606040" cy="4023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 dirty="0" err="1">
                <a:solidFill>
                  <a:srgbClr val="EAF6FF"/>
                </a:solidFill>
                <a:latin typeface="Aptos"/>
              </a:rPr>
              <a:t>Bagaimana</a:t>
            </a:r>
            <a:r>
              <a:rPr sz="1030" b="0" dirty="0">
                <a:solidFill>
                  <a:srgbClr val="EAF6FF"/>
                </a:solidFill>
                <a:latin typeface="Aptos"/>
              </a:rPr>
              <a:t> </a:t>
            </a:r>
            <a:r>
              <a:rPr sz="1030" b="0" dirty="0" err="1">
                <a:solidFill>
                  <a:srgbClr val="EAF6FF"/>
                </a:solidFill>
                <a:latin typeface="Aptos"/>
              </a:rPr>
              <a:t>merancang</a:t>
            </a:r>
            <a:r>
              <a:rPr sz="1030" b="0" dirty="0">
                <a:solidFill>
                  <a:srgbClr val="EAF6FF"/>
                </a:solidFill>
                <a:latin typeface="Aptos"/>
              </a:rPr>
              <a:t> graph </a:t>
            </a:r>
            <a:r>
              <a:rPr sz="1030" b="0" dirty="0" err="1">
                <a:solidFill>
                  <a:srgbClr val="EAF6FF"/>
                </a:solidFill>
                <a:latin typeface="Aptos"/>
              </a:rPr>
              <a:t>ekosistem</a:t>
            </a:r>
            <a:r>
              <a:rPr sz="1030" b="0" dirty="0">
                <a:solidFill>
                  <a:srgbClr val="EAF6FF"/>
                </a:solidFill>
                <a:latin typeface="Aptos"/>
              </a:rPr>
              <a:t> </a:t>
            </a:r>
            <a:r>
              <a:rPr sz="1030" b="0" dirty="0" err="1">
                <a:solidFill>
                  <a:srgbClr val="EAF6FF"/>
                </a:solidFill>
                <a:latin typeface="Aptos"/>
              </a:rPr>
              <a:t>judol-pinjol</a:t>
            </a:r>
            <a:r>
              <a:rPr sz="1030" b="0" dirty="0">
                <a:solidFill>
                  <a:srgbClr val="EAF6FF"/>
                </a:solidFill>
                <a:latin typeface="Aptos"/>
              </a:rPr>
              <a:t>?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83879" y="1874519"/>
            <a:ext cx="3246120" cy="859536"/>
          </a:xfrm>
          <a:prstGeom prst="roundRect">
            <a:avLst/>
          </a:prstGeom>
          <a:solidFill>
            <a:srgbClr val="081B36"/>
          </a:solidFill>
          <a:ln w="12700"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8366760" y="2139695"/>
            <a:ext cx="329184" cy="329184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9" name="Connector 48"/>
          <p:cNvCxnSpPr/>
          <p:nvPr/>
        </p:nvCxnSpPr>
        <p:spPr>
          <a:xfrm flipV="1">
            <a:off x="2423160" y="3054096"/>
            <a:ext cx="3657600" cy="1444752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421624" y="2194560"/>
            <a:ext cx="2286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6142B"/>
                </a:solidFill>
                <a:latin typeface="Aptos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05672" y="2048255"/>
            <a:ext cx="2606040" cy="4023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EAF6FF"/>
                </a:solidFill>
                <a:latin typeface="Aptos"/>
              </a:rPr>
              <a:t>Bagaimana menghubungkan laporan, domain, rekening, APK, dan blacklist?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" y="4069080"/>
            <a:ext cx="3246120" cy="859536"/>
          </a:xfrm>
          <a:prstGeom prst="roundRect">
            <a:avLst/>
          </a:prstGeom>
          <a:solidFill>
            <a:srgbClr val="081B36"/>
          </a:solidFill>
          <a:ln w="1270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960120" y="4334256"/>
            <a:ext cx="329184" cy="329184"/>
          </a:xfrm>
          <a:prstGeom prst="ellipse">
            <a:avLst/>
          </a:prstGeom>
          <a:solidFill>
            <a:srgbClr val="FFB84D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14983" y="4389120"/>
            <a:ext cx="2286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6142B"/>
                </a:solidFill>
                <a:latin typeface="Aptos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99032" y="4242816"/>
            <a:ext cx="2606040" cy="4023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EAF6FF"/>
                </a:solidFill>
                <a:latin typeface="Aptos"/>
              </a:rPr>
              <a:t>Bagaimana BFS menampilkan evidence path?</a:t>
            </a:r>
          </a:p>
        </p:txBody>
      </p:sp>
      <p:cxnSp>
        <p:nvCxnSpPr>
          <p:cNvPr id="54" name="Connector 53"/>
          <p:cNvCxnSpPr/>
          <p:nvPr/>
        </p:nvCxnSpPr>
        <p:spPr>
          <a:xfrm flipH="1" flipV="1">
            <a:off x="6080760" y="3054096"/>
            <a:ext cx="3749040" cy="1444752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8183879" y="4069080"/>
            <a:ext cx="3246120" cy="859536"/>
          </a:xfrm>
          <a:prstGeom prst="roundRect">
            <a:avLst/>
          </a:prstGeom>
          <a:solidFill>
            <a:srgbClr val="081B36"/>
          </a:solidFill>
          <a:ln w="1270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366760" y="4334256"/>
            <a:ext cx="329184" cy="329184"/>
          </a:xfrm>
          <a:prstGeom prst="ellipse">
            <a:avLst/>
          </a:prstGeom>
          <a:solidFill>
            <a:srgbClr val="FF4D6D"/>
          </a:solidFill>
          <a:ln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421624" y="4389120"/>
            <a:ext cx="2286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6142B"/>
                </a:solidFill>
                <a:latin typeface="Aptos"/>
              </a:rPr>
              <a:t>4</a:t>
            </a:r>
          </a:p>
        </p:txBody>
      </p:sp>
      <p:cxnSp>
        <p:nvCxnSpPr>
          <p:cNvPr id="59" name="Connector 58"/>
          <p:cNvCxnSpPr>
            <a:cxnSpLocks/>
            <a:endCxn id="34" idx="0"/>
          </p:cNvCxnSpPr>
          <p:nvPr/>
        </p:nvCxnSpPr>
        <p:spPr>
          <a:xfrm flipV="1">
            <a:off x="5480257" y="3493415"/>
            <a:ext cx="829103" cy="2423159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8805672" y="4242816"/>
            <a:ext cx="2606040" cy="4023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EAF6FF"/>
                </a:solidFill>
                <a:latin typeface="Aptos"/>
              </a:rPr>
              <a:t>Bagaimana skor risiko dan prioritas dihitung?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749039" y="5074920"/>
            <a:ext cx="3246120" cy="859536"/>
          </a:xfrm>
          <a:prstGeom prst="roundRect">
            <a:avLst/>
          </a:prstGeom>
          <a:solidFill>
            <a:srgbClr val="081B36"/>
          </a:solidFill>
          <a:ln w="12700"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3931920" y="5340096"/>
            <a:ext cx="329184" cy="329184"/>
          </a:xfrm>
          <a:prstGeom prst="ellipse">
            <a:avLst/>
          </a:prstGeom>
          <a:solidFill>
            <a:srgbClr val="38D9FF"/>
          </a:solidFill>
          <a:ln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986783" y="5394959"/>
            <a:ext cx="2286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6142B"/>
                </a:solidFill>
                <a:latin typeface="Aptos"/>
              </a:rPr>
              <a:t>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70831" y="5248656"/>
            <a:ext cx="2606040" cy="4023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EAF6FF"/>
                </a:solidFill>
                <a:latin typeface="Aptos"/>
              </a:rPr>
              <a:t>Bagaimana hasil AI tetap explainable dan diverifikasi manusia?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530352" y="6446520"/>
            <a:ext cx="11128248" cy="0"/>
          </a:xfrm>
          <a:prstGeom prst="line">
            <a:avLst/>
          </a:prstGeom>
          <a:ln w="889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30352" y="6501384"/>
            <a:ext cx="80467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93A8C5"/>
                </a:solidFill>
                <a:latin typeface="Aptos"/>
              </a:rPr>
              <a:t>Rumusan masalah disarikan dari SATPAM_Latar_Belakang_Gap_Inovasi.md.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789920" y="6473952"/>
            <a:ext cx="868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8D9FF"/>
                </a:solidFill>
                <a:latin typeface="Aptos"/>
              </a:rPr>
              <a:t>04 / 10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38244" y="2843781"/>
            <a:ext cx="4160520" cy="1078992"/>
          </a:xfrm>
          <a:prstGeom prst="roundRect">
            <a:avLst/>
          </a:prstGeom>
          <a:solidFill>
            <a:srgbClr val="0D315D"/>
          </a:solidFill>
          <a:ln w="12700"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57700" y="3136799"/>
            <a:ext cx="370332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38D9FF"/>
                </a:solidFill>
                <a:latin typeface="Aptos Display"/>
              </a:rPr>
              <a:t>Evidence Path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49140" y="3493415"/>
            <a:ext cx="35204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0" dirty="0" err="1">
                <a:solidFill>
                  <a:srgbClr val="EAF6FF"/>
                </a:solidFill>
                <a:latin typeface="Aptos"/>
              </a:rPr>
              <a:t>laporan</a:t>
            </a:r>
            <a:r>
              <a:rPr sz="980" b="0" dirty="0">
                <a:solidFill>
                  <a:srgbClr val="EAF6FF"/>
                </a:solidFill>
                <a:latin typeface="Aptos"/>
              </a:rPr>
              <a:t> -&gt; domain -&gt; WA -&gt; </a:t>
            </a:r>
            <a:r>
              <a:rPr sz="980" b="0" dirty="0" err="1">
                <a:solidFill>
                  <a:srgbClr val="EAF6FF"/>
                </a:solidFill>
                <a:latin typeface="Aptos"/>
              </a:rPr>
              <a:t>rekening</a:t>
            </a:r>
            <a:r>
              <a:rPr sz="980" b="0" dirty="0">
                <a:solidFill>
                  <a:srgbClr val="EAF6FF"/>
                </a:solidFill>
                <a:latin typeface="Aptos"/>
              </a:rPr>
              <a:t> -&gt; APK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8956" y="0"/>
            <a:ext cx="12191999" cy="6858000"/>
          </a:xfrm>
          <a:prstGeom prst="rect">
            <a:avLst/>
          </a:prstGeom>
          <a:solidFill>
            <a:srgbClr val="06142B"/>
          </a:solidFill>
          <a:ln>
            <a:solidFill>
              <a:srgbClr val="061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9728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19456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109728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438912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502920"/>
            <a:ext cx="1600200" cy="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109960" y="502920"/>
            <a:ext cx="0" cy="54864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287000" y="1051560"/>
            <a:ext cx="822960" cy="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477756" y="47091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077956" y="47091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077956" y="101955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254996" y="101955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530352" y="6446520"/>
            <a:ext cx="11128248" cy="0"/>
          </a:xfrm>
          <a:prstGeom prst="line">
            <a:avLst/>
          </a:prstGeom>
          <a:ln w="889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30352" y="6501384"/>
            <a:ext cx="80467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789920" y="6473952"/>
            <a:ext cx="868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8D9FF"/>
                </a:solidFill>
                <a:latin typeface="Aptos"/>
              </a:rPr>
              <a:t>05 / 10</a:t>
            </a:r>
          </a:p>
        </p:txBody>
      </p:sp>
      <p:sp>
        <p:nvSpPr>
          <p:cNvPr id="28" name="kicker-marker"/>
          <p:cNvSpPr/>
          <p:nvPr/>
        </p:nvSpPr>
        <p:spPr>
          <a:xfrm>
            <a:off x="530352" y="402336"/>
            <a:ext cx="109728" cy="109728"/>
          </a:xfrm>
          <a:prstGeom prst="rect">
            <a:avLst/>
          </a:prstGeom>
          <a:solidFill>
            <a:srgbClr val="38D9FF"/>
          </a:solidFill>
          <a:ln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kicker-label"/>
          <p:cNvSpPr txBox="1"/>
          <p:nvPr/>
        </p:nvSpPr>
        <p:spPr>
          <a:xfrm>
            <a:off x="713232" y="329184"/>
            <a:ext cx="356616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8D9FF"/>
                </a:solidFill>
                <a:latin typeface="Aptos"/>
              </a:rPr>
              <a:t>PROPOSED SOLUTION: SATPAM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" y="713232"/>
            <a:ext cx="7863840" cy="6766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EAF6FF"/>
                </a:solidFill>
                <a:latin typeface="Aptos Display"/>
              </a:rPr>
              <a:t>SATPAM menyatukan sinyal menjadi peta risiko terverifikasi.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2292" y="1519060"/>
            <a:ext cx="4879355" cy="4708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0" dirty="0">
                <a:solidFill>
                  <a:srgbClr val="93A8C5"/>
                </a:solidFill>
                <a:latin typeface="Aptos"/>
              </a:rPr>
              <a:t>Alur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solusi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dibuat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sebagai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sistem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pendukung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analisis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: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indikatif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, explainable, dan human-in-the-loop.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3232" y="2240280"/>
            <a:ext cx="1417320" cy="1298448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public_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404872"/>
            <a:ext cx="438912" cy="43891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50392" y="2990088"/>
            <a:ext cx="114300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AF6FF"/>
                </a:solidFill>
                <a:latin typeface="Aptos"/>
              </a:rPr>
              <a:t>Input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AF6FF"/>
                </a:solidFill>
                <a:latin typeface="Aptos"/>
              </a:rPr>
              <a:t>multi-sumber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130552" y="2889504"/>
            <a:ext cx="329184" cy="0"/>
          </a:xfrm>
          <a:prstGeom prst="line">
            <a:avLst/>
          </a:prstGeom>
          <a:ln w="1524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Isosceles Triangle 35"/>
          <p:cNvSpPr/>
          <p:nvPr/>
        </p:nvSpPr>
        <p:spPr>
          <a:xfrm rot="5400000">
            <a:off x="2400300" y="2830068"/>
            <a:ext cx="118872" cy="118872"/>
          </a:xfrm>
          <a:prstGeom prst="triangl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2487168" y="2240280"/>
            <a:ext cx="1417320" cy="1298448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ai_analys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6936" y="2404872"/>
            <a:ext cx="438912" cy="43891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2624328" y="2990088"/>
            <a:ext cx="114300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AF6FF"/>
                </a:solidFill>
                <a:latin typeface="Aptos"/>
              </a:rPr>
              <a:t>Entity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AF6FF"/>
                </a:solidFill>
                <a:latin typeface="Aptos"/>
              </a:rPr>
              <a:t>extraction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904488" y="2889504"/>
            <a:ext cx="329184" cy="0"/>
          </a:xfrm>
          <a:prstGeom prst="line">
            <a:avLst/>
          </a:prstGeom>
          <a:ln w="1524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/>
          <p:cNvSpPr/>
          <p:nvPr/>
        </p:nvSpPr>
        <p:spPr>
          <a:xfrm rot="5400000">
            <a:off x="4174235" y="2830068"/>
            <a:ext cx="118872" cy="118872"/>
          </a:xfrm>
          <a:prstGeom prst="triangl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4261104" y="2240280"/>
            <a:ext cx="1417320" cy="1298448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 descr="web_crawl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872" y="2404872"/>
            <a:ext cx="438912" cy="438912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4398264" y="2990088"/>
            <a:ext cx="114300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AF6FF"/>
                </a:solidFill>
                <a:latin typeface="Aptos"/>
              </a:rPr>
              <a:t>Graph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AF6FF"/>
                </a:solidFill>
                <a:latin typeface="Aptos"/>
              </a:rPr>
              <a:t>intelligence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678424" y="2889504"/>
            <a:ext cx="329184" cy="0"/>
          </a:xfrm>
          <a:prstGeom prst="line">
            <a:avLst/>
          </a:prstGeom>
          <a:ln w="1524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Isosceles Triangle 45"/>
          <p:cNvSpPr/>
          <p:nvPr/>
        </p:nvSpPr>
        <p:spPr>
          <a:xfrm rot="5400000">
            <a:off x="5948172" y="2830068"/>
            <a:ext cx="118872" cy="118872"/>
          </a:xfrm>
          <a:prstGeom prst="triangl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035040" y="2240280"/>
            <a:ext cx="1417320" cy="1298448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risk_sco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4807" y="2404872"/>
            <a:ext cx="438912" cy="438912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172200" y="2990088"/>
            <a:ext cx="114300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AF6FF"/>
                </a:solidFill>
                <a:latin typeface="Aptos"/>
              </a:rPr>
              <a:t>Graph search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AF6FF"/>
                </a:solidFill>
                <a:latin typeface="Aptos"/>
              </a:rPr>
              <a:t>+ scoring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452360" y="2889504"/>
            <a:ext cx="329184" cy="0"/>
          </a:xfrm>
          <a:prstGeom prst="line">
            <a:avLst/>
          </a:prstGeom>
          <a:ln w="1524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Isosceles Triangle 50"/>
          <p:cNvSpPr/>
          <p:nvPr/>
        </p:nvSpPr>
        <p:spPr>
          <a:xfrm rot="5400000">
            <a:off x="7722108" y="2830068"/>
            <a:ext cx="118872" cy="118872"/>
          </a:xfrm>
          <a:prstGeom prst="triangl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7808975" y="2240280"/>
            <a:ext cx="1417320" cy="1298448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3" name="Picture 52" descr="dash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8744" y="2404872"/>
            <a:ext cx="438912" cy="438912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946136" y="2990088"/>
            <a:ext cx="114300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AF6FF"/>
                </a:solidFill>
                <a:latin typeface="Aptos"/>
              </a:rPr>
              <a:t>Dashboard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AF6FF"/>
                </a:solidFill>
                <a:latin typeface="Aptos"/>
              </a:rPr>
              <a:t>prioritas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9226296" y="2889504"/>
            <a:ext cx="329184" cy="0"/>
          </a:xfrm>
          <a:prstGeom prst="line">
            <a:avLst/>
          </a:prstGeom>
          <a:ln w="1524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Isosceles Triangle 55"/>
          <p:cNvSpPr/>
          <p:nvPr/>
        </p:nvSpPr>
        <p:spPr>
          <a:xfrm rot="5400000">
            <a:off x="9496044" y="2830068"/>
            <a:ext cx="118872" cy="118872"/>
          </a:xfrm>
          <a:prstGeom prst="triangl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9582912" y="2240280"/>
            <a:ext cx="1417320" cy="1298448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8" name="Picture 57" descr="law_enforcement_acti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12680" y="2404872"/>
            <a:ext cx="438912" cy="438912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9720072" y="2990088"/>
            <a:ext cx="114300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AF6FF"/>
                </a:solidFill>
                <a:latin typeface="Aptos"/>
              </a:rPr>
              <a:t>Human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AF6FF"/>
                </a:solidFill>
                <a:latin typeface="Aptos"/>
              </a:rPr>
              <a:t>verification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87552" y="4315968"/>
            <a:ext cx="9948672" cy="713232"/>
          </a:xfrm>
          <a:prstGeom prst="roundRect">
            <a:avLst/>
          </a:prstGeom>
          <a:solidFill>
            <a:srgbClr val="081B36"/>
          </a:solidFill>
          <a:ln w="12700"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207008" y="4517136"/>
            <a:ext cx="950976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EAF6FF"/>
                </a:solidFill>
                <a:latin typeface="Aptos"/>
              </a:rPr>
              <a:t>Output utama: risk score, evidence path, cluster, early warning, rekomendasi prioritas, dan status review.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417320" y="5413248"/>
            <a:ext cx="923544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B84D"/>
                </a:solidFill>
                <a:latin typeface="Aptos"/>
              </a:rPr>
              <a:t>Batas aman prototype: data dummy, source `simulation_only`, masking data sensitif, dan tidak ada auto-blocking.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530352" y="6446520"/>
            <a:ext cx="11128248" cy="0"/>
          </a:xfrm>
          <a:prstGeom prst="line">
            <a:avLst/>
          </a:prstGeom>
          <a:ln w="889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30352" y="6501384"/>
            <a:ext cx="80467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93A8C5"/>
                </a:solidFill>
                <a:latin typeface="Aptos"/>
              </a:rPr>
              <a:t>Konsep solusi berdasarkan SRS SATPAM bagian scope, architecture, dan human verification.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789920" y="6473952"/>
            <a:ext cx="868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8D9FF"/>
                </a:solidFill>
                <a:latin typeface="Aptos"/>
              </a:rPr>
              <a:t>05 / 10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142B"/>
          </a:solidFill>
          <a:ln>
            <a:solidFill>
              <a:srgbClr val="061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9728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19456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109728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438912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502920"/>
            <a:ext cx="1600200" cy="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109960" y="502920"/>
            <a:ext cx="0" cy="54864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287000" y="1051560"/>
            <a:ext cx="822960" cy="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477756" y="47091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077956" y="47091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077956" y="101955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254996" y="101955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530352" y="6446520"/>
            <a:ext cx="11128248" cy="0"/>
          </a:xfrm>
          <a:prstGeom prst="line">
            <a:avLst/>
          </a:prstGeom>
          <a:ln w="889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30352" y="6501384"/>
            <a:ext cx="80467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789920" y="6473952"/>
            <a:ext cx="868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8D9FF"/>
                </a:solidFill>
                <a:latin typeface="Aptos"/>
              </a:rPr>
              <a:t>06 / 10</a:t>
            </a:r>
          </a:p>
        </p:txBody>
      </p:sp>
      <p:sp>
        <p:nvSpPr>
          <p:cNvPr id="28" name="kicker-marker"/>
          <p:cNvSpPr/>
          <p:nvPr/>
        </p:nvSpPr>
        <p:spPr>
          <a:xfrm>
            <a:off x="530352" y="402336"/>
            <a:ext cx="109728" cy="109728"/>
          </a:xfrm>
          <a:prstGeom prst="rect">
            <a:avLst/>
          </a:prstGeom>
          <a:solidFill>
            <a:srgbClr val="38D9FF"/>
          </a:solidFill>
          <a:ln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kicker-label"/>
          <p:cNvSpPr txBox="1"/>
          <p:nvPr/>
        </p:nvSpPr>
        <p:spPr>
          <a:xfrm>
            <a:off x="713232" y="329184"/>
            <a:ext cx="356616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8D9FF"/>
                </a:solidFill>
                <a:latin typeface="Aptos"/>
              </a:rPr>
              <a:t>SYSTEM ARCHITECTURE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" y="713232"/>
            <a:ext cx="7863840" cy="6766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EAF6FF"/>
                </a:solidFill>
                <a:latin typeface="Aptos Display"/>
              </a:rPr>
              <a:t>Arsitektur memisahkan ingestion, graph intelligence, scoring, dan review.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34655" y="1165877"/>
            <a:ext cx="4028079" cy="4708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50" b="0" dirty="0" err="1">
                <a:solidFill>
                  <a:srgbClr val="93A8C5"/>
                </a:solidFill>
                <a:latin typeface="Aptos"/>
              </a:rPr>
              <a:t>Komponen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dirancang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modular agar prototype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aman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,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dapat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diuji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, dan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mudah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diperluas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1737360"/>
            <a:ext cx="10835640" cy="960120"/>
          </a:xfrm>
          <a:prstGeom prst="roundRect">
            <a:avLst/>
          </a:prstGeom>
          <a:solidFill>
            <a:srgbClr val="081B36"/>
          </a:solidFill>
          <a:ln w="12700"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1248" y="1847088"/>
            <a:ext cx="12344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38D9FF"/>
                </a:solidFill>
                <a:latin typeface="Aptos"/>
              </a:rPr>
              <a:t>Input &amp; Signals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2926080"/>
            <a:ext cx="10835640" cy="960120"/>
          </a:xfrm>
          <a:prstGeom prst="roundRect">
            <a:avLst/>
          </a:prstGeom>
          <a:solidFill>
            <a:srgbClr val="081B36"/>
          </a:solidFill>
          <a:ln w="12700"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1248" y="3035808"/>
            <a:ext cx="12344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38D9FF"/>
                </a:solidFill>
                <a:latin typeface="Aptos"/>
              </a:rPr>
              <a:t>SATPAM Intelligence Core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160520"/>
            <a:ext cx="10835640" cy="960120"/>
          </a:xfrm>
          <a:prstGeom prst="roundRect">
            <a:avLst/>
          </a:prstGeom>
          <a:solidFill>
            <a:srgbClr val="081B36"/>
          </a:solidFill>
          <a:ln w="12700"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1248" y="4270248"/>
            <a:ext cx="12344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38D9FF"/>
                </a:solidFill>
                <a:latin typeface="Aptos"/>
              </a:rPr>
              <a:t>Output &amp; Governance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993392" y="1764792"/>
            <a:ext cx="1325880" cy="914400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public_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1911095"/>
            <a:ext cx="310896" cy="31089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450592" y="1929384"/>
            <a:ext cx="777240" cy="53035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Report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Form/API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39312" y="1764792"/>
            <a:ext cx="1325880" cy="914400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web_crawl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39" y="1911095"/>
            <a:ext cx="310896" cy="31089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096512" y="1929384"/>
            <a:ext cx="777240" cy="53035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Crawler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Finding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285232" y="1764792"/>
            <a:ext cx="1325880" cy="914400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transaction_monitor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1911095"/>
            <a:ext cx="310896" cy="310896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5742432" y="1929384"/>
            <a:ext cx="777240" cy="53035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Traffic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Simulasi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931152" y="1764792"/>
            <a:ext cx="1325880" cy="914400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transaction_monitor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1911095"/>
            <a:ext cx="310896" cy="31089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388352" y="1929384"/>
            <a:ext cx="777240" cy="53035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Transaksi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Simulasi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577072" y="1764792"/>
            <a:ext cx="1325880" cy="914400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1" name="Picture 50" descr="risk_sco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0" y="1911095"/>
            <a:ext cx="310896" cy="310896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034272" y="1929384"/>
            <a:ext cx="777240" cy="53035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Blacklist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Dummy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353312" y="3054096"/>
            <a:ext cx="960120" cy="566928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408176" y="3172968"/>
            <a:ext cx="850392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EAF6FF"/>
                </a:solidFill>
                <a:latin typeface="Aptos"/>
              </a:rPr>
              <a:t>Validation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2313432" y="3337560"/>
            <a:ext cx="210312" cy="0"/>
          </a:xfrm>
          <a:prstGeom prst="line">
            <a:avLst/>
          </a:prstGeom>
          <a:ln w="1270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Isosceles Triangle 55"/>
          <p:cNvSpPr/>
          <p:nvPr/>
        </p:nvSpPr>
        <p:spPr>
          <a:xfrm rot="5400000">
            <a:off x="2464308" y="3278124"/>
            <a:ext cx="118872" cy="118872"/>
          </a:xfrm>
          <a:prstGeom prst="triangl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2578608" y="3054096"/>
            <a:ext cx="960120" cy="566928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633472" y="3172968"/>
            <a:ext cx="850392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EAF6FF"/>
                </a:solidFill>
                <a:latin typeface="Aptos"/>
              </a:rPr>
              <a:t>Extraction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3538728" y="3337560"/>
            <a:ext cx="210311" cy="0"/>
          </a:xfrm>
          <a:prstGeom prst="line">
            <a:avLst/>
          </a:prstGeom>
          <a:ln w="1270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Isosceles Triangle 59"/>
          <p:cNvSpPr/>
          <p:nvPr/>
        </p:nvSpPr>
        <p:spPr>
          <a:xfrm rot="5400000">
            <a:off x="3689603" y="3278124"/>
            <a:ext cx="118872" cy="118872"/>
          </a:xfrm>
          <a:prstGeom prst="triangl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3803904" y="3054096"/>
            <a:ext cx="960120" cy="566928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858768" y="3172968"/>
            <a:ext cx="850392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EAF6FF"/>
                </a:solidFill>
                <a:latin typeface="Aptos"/>
              </a:rPr>
              <a:t>Normalize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EAF6FF"/>
                </a:solidFill>
                <a:latin typeface="Aptos"/>
              </a:rPr>
              <a:t>+ Dedup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4764024" y="3337560"/>
            <a:ext cx="210312" cy="0"/>
          </a:xfrm>
          <a:prstGeom prst="line">
            <a:avLst/>
          </a:prstGeom>
          <a:ln w="1270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Isosceles Triangle 63"/>
          <p:cNvSpPr/>
          <p:nvPr/>
        </p:nvSpPr>
        <p:spPr>
          <a:xfrm rot="5400000">
            <a:off x="4914900" y="3278124"/>
            <a:ext cx="118872" cy="118872"/>
          </a:xfrm>
          <a:prstGeom prst="triangl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5029200" y="3054096"/>
            <a:ext cx="960120" cy="566928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084064" y="3172968"/>
            <a:ext cx="850392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EAF6FF"/>
                </a:solidFill>
                <a:latin typeface="Aptos"/>
              </a:rPr>
              <a:t>Graph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EAF6FF"/>
                </a:solidFill>
                <a:latin typeface="Aptos"/>
              </a:rPr>
              <a:t>Builder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5989320" y="3337560"/>
            <a:ext cx="210312" cy="0"/>
          </a:xfrm>
          <a:prstGeom prst="line">
            <a:avLst/>
          </a:prstGeom>
          <a:ln w="1270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Isosceles Triangle 67"/>
          <p:cNvSpPr/>
          <p:nvPr/>
        </p:nvSpPr>
        <p:spPr>
          <a:xfrm rot="5400000">
            <a:off x="6140196" y="3278124"/>
            <a:ext cx="118872" cy="118872"/>
          </a:xfrm>
          <a:prstGeom prst="triangl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6254496" y="3054096"/>
            <a:ext cx="960120" cy="566928"/>
          </a:xfrm>
          <a:prstGeom prst="roundRect">
            <a:avLst/>
          </a:prstGeom>
          <a:solidFill>
            <a:srgbClr val="0D315D"/>
          </a:solidFill>
          <a:ln w="12700"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309359" y="3172968"/>
            <a:ext cx="850392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EAF6FF"/>
                </a:solidFill>
                <a:latin typeface="Aptos"/>
              </a:rPr>
              <a:t>Neo4j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EAF6FF"/>
                </a:solidFill>
                <a:latin typeface="Aptos"/>
              </a:rPr>
              <a:t>Graph DB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7214616" y="3337560"/>
            <a:ext cx="210311" cy="0"/>
          </a:xfrm>
          <a:prstGeom prst="line">
            <a:avLst/>
          </a:prstGeom>
          <a:ln w="1270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Isosceles Triangle 71"/>
          <p:cNvSpPr/>
          <p:nvPr/>
        </p:nvSpPr>
        <p:spPr>
          <a:xfrm rot="5400000">
            <a:off x="7365492" y="3278124"/>
            <a:ext cx="118872" cy="118872"/>
          </a:xfrm>
          <a:prstGeom prst="triangl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7479792" y="3054096"/>
            <a:ext cx="960120" cy="566928"/>
          </a:xfrm>
          <a:prstGeom prst="roundRect">
            <a:avLst/>
          </a:prstGeom>
          <a:solidFill>
            <a:srgbClr val="0D315D"/>
          </a:solidFill>
          <a:ln w="12700"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534656" y="3172968"/>
            <a:ext cx="850392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EAF6FF"/>
                </a:solidFill>
                <a:latin typeface="Aptos"/>
              </a:rPr>
              <a:t>BFS/Rules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EAF6FF"/>
                </a:solidFill>
                <a:latin typeface="Aptos"/>
              </a:rPr>
              <a:t>A* optional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8439912" y="3337560"/>
            <a:ext cx="210312" cy="0"/>
          </a:xfrm>
          <a:prstGeom prst="line">
            <a:avLst/>
          </a:prstGeom>
          <a:ln w="1270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Isosceles Triangle 75"/>
          <p:cNvSpPr/>
          <p:nvPr/>
        </p:nvSpPr>
        <p:spPr>
          <a:xfrm rot="5400000">
            <a:off x="8590788" y="3278124"/>
            <a:ext cx="118872" cy="118872"/>
          </a:xfrm>
          <a:prstGeom prst="triangl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8705088" y="3054096"/>
            <a:ext cx="960120" cy="566928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759952" y="3172968"/>
            <a:ext cx="850392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EAF6FF"/>
                </a:solidFill>
                <a:latin typeface="Aptos"/>
              </a:rPr>
              <a:t>Risk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EAF6FF"/>
                </a:solidFill>
                <a:latin typeface="Aptos"/>
              </a:rPr>
              <a:t>Scoring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9665208" y="3337560"/>
            <a:ext cx="210311" cy="0"/>
          </a:xfrm>
          <a:prstGeom prst="line">
            <a:avLst/>
          </a:prstGeom>
          <a:ln w="1270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Isosceles Triangle 79"/>
          <p:cNvSpPr/>
          <p:nvPr/>
        </p:nvSpPr>
        <p:spPr>
          <a:xfrm rot="5400000">
            <a:off x="9816084" y="3278124"/>
            <a:ext cx="118872" cy="118872"/>
          </a:xfrm>
          <a:prstGeom prst="triangl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9930384" y="3054096"/>
            <a:ext cx="960120" cy="566928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985248" y="3172968"/>
            <a:ext cx="850392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EAF6FF"/>
                </a:solidFill>
                <a:latin typeface="Aptos"/>
              </a:rPr>
              <a:t>Explain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EAF6FF"/>
                </a:solidFill>
                <a:latin typeface="Aptos"/>
              </a:rPr>
              <a:t>+ Alert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828800" y="4187952"/>
            <a:ext cx="1371600" cy="914400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4" name="Picture 83" descr="dash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8528" y="4334256"/>
            <a:ext cx="310896" cy="310896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2286000" y="4352544"/>
            <a:ext cx="822960" cy="53035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Graph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Explorer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749039" y="4187952"/>
            <a:ext cx="1371600" cy="914400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7" name="Picture 86" descr="risk_sco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8768" y="4334256"/>
            <a:ext cx="310896" cy="310896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4206240" y="4352544"/>
            <a:ext cx="822960" cy="53035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Priority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Queue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669280" y="4187952"/>
            <a:ext cx="1371600" cy="914400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0" name="Picture 89" descr="law_enforcement_acti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79008" y="4334256"/>
            <a:ext cx="310896" cy="310896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6126480" y="4352544"/>
            <a:ext cx="822960" cy="53035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Verification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Case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589520" y="4187952"/>
            <a:ext cx="1371600" cy="914400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3" name="Picture 92" descr="ai_analysi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99248" y="4334256"/>
            <a:ext cx="310896" cy="310896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8046720" y="4352544"/>
            <a:ext cx="822960" cy="53035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Audit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Log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509760" y="4187952"/>
            <a:ext cx="1371600" cy="914400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6" name="Picture 95" descr="public_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488" y="4334256"/>
            <a:ext cx="310896" cy="310896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9966960" y="4352544"/>
            <a:ext cx="822960" cy="53035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Export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Report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10012680" y="2697480"/>
            <a:ext cx="0" cy="219456"/>
          </a:xfrm>
          <a:prstGeom prst="line">
            <a:avLst/>
          </a:prstGeom>
          <a:ln w="1270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Isosceles Triangle 98"/>
          <p:cNvSpPr/>
          <p:nvPr/>
        </p:nvSpPr>
        <p:spPr>
          <a:xfrm rot="10800000">
            <a:off x="9953244" y="2857500"/>
            <a:ext cx="118872" cy="118872"/>
          </a:xfrm>
          <a:prstGeom prst="triangl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0" name="Connector 99"/>
          <p:cNvCxnSpPr/>
          <p:nvPr/>
        </p:nvCxnSpPr>
        <p:spPr>
          <a:xfrm>
            <a:off x="10012680" y="3657600"/>
            <a:ext cx="0" cy="502920"/>
          </a:xfrm>
          <a:prstGeom prst="line">
            <a:avLst/>
          </a:prstGeom>
          <a:ln w="1270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Isosceles Triangle 100"/>
          <p:cNvSpPr/>
          <p:nvPr/>
        </p:nvSpPr>
        <p:spPr>
          <a:xfrm rot="10800000">
            <a:off x="9953244" y="4101083"/>
            <a:ext cx="118872" cy="118872"/>
          </a:xfrm>
          <a:prstGeom prst="triangl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2" name="Connector 101"/>
          <p:cNvCxnSpPr/>
          <p:nvPr/>
        </p:nvCxnSpPr>
        <p:spPr>
          <a:xfrm>
            <a:off x="530352" y="6446520"/>
            <a:ext cx="11128248" cy="0"/>
          </a:xfrm>
          <a:prstGeom prst="line">
            <a:avLst/>
          </a:prstGeom>
          <a:ln w="889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530352" y="6501384"/>
            <a:ext cx="80467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93A8C5"/>
                </a:solidFill>
                <a:latin typeface="Aptos"/>
              </a:rPr>
              <a:t>Mermaid source: visuals/system_architecture.mmd | Diagram PPTX digambar sebagai shape editable.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789920" y="6473952"/>
            <a:ext cx="868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8D9FF"/>
                </a:solidFill>
                <a:latin typeface="Aptos"/>
              </a:rPr>
              <a:t>06 / 10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142B"/>
          </a:solidFill>
          <a:ln>
            <a:solidFill>
              <a:srgbClr val="061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9728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19456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109728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438912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502920"/>
            <a:ext cx="1600200" cy="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109960" y="502920"/>
            <a:ext cx="0" cy="54864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287000" y="1051560"/>
            <a:ext cx="822960" cy="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477756" y="47091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077956" y="47091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077956" y="101955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254996" y="101955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530352" y="6446520"/>
            <a:ext cx="11128248" cy="0"/>
          </a:xfrm>
          <a:prstGeom prst="line">
            <a:avLst/>
          </a:prstGeom>
          <a:ln w="889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30352" y="6501384"/>
            <a:ext cx="80467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789920" y="6473952"/>
            <a:ext cx="868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8D9FF"/>
                </a:solidFill>
                <a:latin typeface="Aptos"/>
              </a:rPr>
              <a:t>07 / 10</a:t>
            </a:r>
          </a:p>
        </p:txBody>
      </p:sp>
      <p:sp>
        <p:nvSpPr>
          <p:cNvPr id="28" name="kicker-marker"/>
          <p:cNvSpPr/>
          <p:nvPr/>
        </p:nvSpPr>
        <p:spPr>
          <a:xfrm>
            <a:off x="530352" y="402336"/>
            <a:ext cx="109728" cy="109728"/>
          </a:xfrm>
          <a:prstGeom prst="rect">
            <a:avLst/>
          </a:prstGeom>
          <a:solidFill>
            <a:srgbClr val="38D9FF"/>
          </a:solidFill>
          <a:ln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kicker-label"/>
          <p:cNvSpPr txBox="1"/>
          <p:nvPr/>
        </p:nvSpPr>
        <p:spPr>
          <a:xfrm>
            <a:off x="713232" y="329184"/>
            <a:ext cx="356616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8D9FF"/>
                </a:solidFill>
                <a:latin typeface="Aptos"/>
              </a:rPr>
              <a:t>METHOD / WORKFLOW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" y="713232"/>
            <a:ext cx="7863840" cy="6766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EAF6FF"/>
                </a:solidFill>
                <a:latin typeface="Aptos Display"/>
              </a:rPr>
              <a:t>Pipeline metode berjalan dari data dummy sampai rekomendasi prioritas.</a:t>
            </a:r>
          </a:p>
        </p:txBody>
      </p:sp>
      <p:sp>
        <p:nvSpPr>
          <p:cNvPr id="32" name="Oval 31"/>
          <p:cNvSpPr/>
          <p:nvPr/>
        </p:nvSpPr>
        <p:spPr>
          <a:xfrm>
            <a:off x="943197" y="3069326"/>
            <a:ext cx="402336" cy="402336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25493" y="3151623"/>
            <a:ext cx="228600" cy="20621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06142B"/>
                </a:solidFill>
                <a:latin typeface="Aptos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2029" y="3663687"/>
            <a:ext cx="914400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AF6FF"/>
                </a:solidFill>
                <a:latin typeface="Aptos"/>
              </a:rPr>
              <a:t>Input +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AF6FF"/>
                </a:solidFill>
                <a:latin typeface="Aptos"/>
              </a:rPr>
              <a:t>Validate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445" y="4212327"/>
            <a:ext cx="1097280" cy="3200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93A8C5"/>
                </a:solidFill>
                <a:latin typeface="Aptos"/>
              </a:rPr>
              <a:t>laporan, crawler,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93A8C5"/>
                </a:solidFill>
                <a:latin typeface="Aptos"/>
              </a:rPr>
              <a:t>transaksi simulasi</a:t>
            </a:r>
          </a:p>
        </p:txBody>
      </p:sp>
      <p:cxnSp>
        <p:nvCxnSpPr>
          <p:cNvPr id="36" name="Connector 35"/>
          <p:cNvCxnSpPr>
            <a:cxnSpLocks/>
          </p:cNvCxnSpPr>
          <p:nvPr/>
        </p:nvCxnSpPr>
        <p:spPr>
          <a:xfrm>
            <a:off x="1382109" y="3270495"/>
            <a:ext cx="521208" cy="0"/>
          </a:xfrm>
          <a:prstGeom prst="line">
            <a:avLst/>
          </a:prstGeom>
          <a:ln w="1397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5400000">
            <a:off x="1843881" y="3211059"/>
            <a:ext cx="118872" cy="118872"/>
          </a:xfrm>
          <a:prstGeom prst="triangl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2570829" y="3069326"/>
            <a:ext cx="402336" cy="402336"/>
          </a:xfrm>
          <a:prstGeom prst="ellipse">
            <a:avLst/>
          </a:prstGeom>
          <a:solidFill>
            <a:srgbClr val="38D9FF"/>
          </a:solidFill>
          <a:ln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653125" y="3151623"/>
            <a:ext cx="228600" cy="20621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06142B"/>
                </a:solidFill>
                <a:latin typeface="Aptos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69661" y="3663687"/>
            <a:ext cx="914400" cy="2708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AF6FF"/>
                </a:solidFill>
                <a:latin typeface="Aptos"/>
              </a:rPr>
              <a:t>Extract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69077" y="4212327"/>
            <a:ext cx="1097280" cy="3200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93A8C5"/>
                </a:solidFill>
                <a:latin typeface="Aptos"/>
              </a:rPr>
              <a:t>URL, domain,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93A8C5"/>
                </a:solidFill>
                <a:latin typeface="Aptos"/>
              </a:rPr>
              <a:t>WA, rekening, APK</a:t>
            </a:r>
          </a:p>
        </p:txBody>
      </p:sp>
      <p:cxnSp>
        <p:nvCxnSpPr>
          <p:cNvPr id="42" name="Connector 41"/>
          <p:cNvCxnSpPr>
            <a:cxnSpLocks/>
          </p:cNvCxnSpPr>
          <p:nvPr/>
        </p:nvCxnSpPr>
        <p:spPr>
          <a:xfrm>
            <a:off x="3009741" y="3270495"/>
            <a:ext cx="521208" cy="0"/>
          </a:xfrm>
          <a:prstGeom prst="line">
            <a:avLst/>
          </a:prstGeom>
          <a:ln w="1397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Isosceles Triangle 42"/>
          <p:cNvSpPr/>
          <p:nvPr/>
        </p:nvSpPr>
        <p:spPr>
          <a:xfrm rot="5400000">
            <a:off x="3471513" y="3211059"/>
            <a:ext cx="118872" cy="118872"/>
          </a:xfrm>
          <a:prstGeom prst="triangl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4198461" y="3069326"/>
            <a:ext cx="402336" cy="402336"/>
          </a:xfrm>
          <a:prstGeom prst="ellipse">
            <a:avLst/>
          </a:prstGeom>
          <a:solidFill>
            <a:srgbClr val="FFB84D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280757" y="3151623"/>
            <a:ext cx="228600" cy="20621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06142B"/>
                </a:solidFill>
                <a:latin typeface="Aptos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97293" y="3663687"/>
            <a:ext cx="914400" cy="2708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AF6FF"/>
                </a:solidFill>
                <a:latin typeface="Aptos"/>
              </a:rPr>
              <a:t>Normalize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96709" y="4212327"/>
            <a:ext cx="1097280" cy="3200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93A8C5"/>
                </a:solidFill>
                <a:latin typeface="Aptos"/>
              </a:rPr>
              <a:t>masking,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93A8C5"/>
                </a:solidFill>
                <a:latin typeface="Aptos"/>
              </a:rPr>
              <a:t>dedup entity</a:t>
            </a:r>
          </a:p>
        </p:txBody>
      </p:sp>
      <p:cxnSp>
        <p:nvCxnSpPr>
          <p:cNvPr id="48" name="Connector 47"/>
          <p:cNvCxnSpPr>
            <a:cxnSpLocks/>
          </p:cNvCxnSpPr>
          <p:nvPr/>
        </p:nvCxnSpPr>
        <p:spPr>
          <a:xfrm>
            <a:off x="4637373" y="3270495"/>
            <a:ext cx="521208" cy="0"/>
          </a:xfrm>
          <a:prstGeom prst="line">
            <a:avLst/>
          </a:prstGeom>
          <a:ln w="1397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Isosceles Triangle 48"/>
          <p:cNvSpPr/>
          <p:nvPr/>
        </p:nvSpPr>
        <p:spPr>
          <a:xfrm rot="5400000">
            <a:off x="5099145" y="3211059"/>
            <a:ext cx="118872" cy="118872"/>
          </a:xfrm>
          <a:prstGeom prst="triangl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5826093" y="3069326"/>
            <a:ext cx="402336" cy="402336"/>
          </a:xfrm>
          <a:prstGeom prst="ellipse">
            <a:avLst/>
          </a:prstGeom>
          <a:solidFill>
            <a:srgbClr val="38D9FF"/>
          </a:solidFill>
          <a:ln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908389" y="3151623"/>
            <a:ext cx="228600" cy="20621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06142B"/>
                </a:solidFill>
                <a:latin typeface="Aptos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24925" y="3663687"/>
            <a:ext cx="914400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AF6FF"/>
                </a:solidFill>
                <a:latin typeface="Aptos"/>
              </a:rPr>
              <a:t>Build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AF6FF"/>
                </a:solidFill>
                <a:latin typeface="Aptos"/>
              </a:rPr>
              <a:t>Graph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24341" y="4212327"/>
            <a:ext cx="1097280" cy="3200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93A8C5"/>
                </a:solidFill>
                <a:latin typeface="Aptos"/>
              </a:rPr>
              <a:t>node +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93A8C5"/>
                </a:solidFill>
                <a:latin typeface="Aptos"/>
              </a:rPr>
              <a:t>relationship</a:t>
            </a:r>
          </a:p>
        </p:txBody>
      </p:sp>
      <p:cxnSp>
        <p:nvCxnSpPr>
          <p:cNvPr id="54" name="Connector 53"/>
          <p:cNvCxnSpPr>
            <a:cxnSpLocks/>
          </p:cNvCxnSpPr>
          <p:nvPr/>
        </p:nvCxnSpPr>
        <p:spPr>
          <a:xfrm>
            <a:off x="6265005" y="3270495"/>
            <a:ext cx="521208" cy="0"/>
          </a:xfrm>
          <a:prstGeom prst="line">
            <a:avLst/>
          </a:prstGeom>
          <a:ln w="1397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Isosceles Triangle 54"/>
          <p:cNvSpPr/>
          <p:nvPr/>
        </p:nvSpPr>
        <p:spPr>
          <a:xfrm rot="5400000">
            <a:off x="6726776" y="3211059"/>
            <a:ext cx="118872" cy="118872"/>
          </a:xfrm>
          <a:prstGeom prst="triangl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7453725" y="3069326"/>
            <a:ext cx="402336" cy="402336"/>
          </a:xfrm>
          <a:prstGeom prst="ellipse">
            <a:avLst/>
          </a:prstGeom>
          <a:solidFill>
            <a:srgbClr val="FF4D6D"/>
          </a:solidFill>
          <a:ln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536021" y="3151623"/>
            <a:ext cx="228600" cy="20621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06142B"/>
                </a:solidFill>
                <a:latin typeface="Aptos"/>
              </a:rPr>
              <a:t>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52557" y="3663687"/>
            <a:ext cx="914400" cy="2708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AF6FF"/>
                </a:solidFill>
                <a:latin typeface="Aptos"/>
              </a:rPr>
              <a:t>Search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51973" y="4212327"/>
            <a:ext cx="1097280" cy="3200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93A8C5"/>
                </a:solidFill>
                <a:latin typeface="Aptos"/>
              </a:rPr>
              <a:t>BFS path,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93A8C5"/>
                </a:solidFill>
                <a:latin typeface="Aptos"/>
              </a:rPr>
              <a:t>A* optional</a:t>
            </a:r>
          </a:p>
        </p:txBody>
      </p:sp>
      <p:cxnSp>
        <p:nvCxnSpPr>
          <p:cNvPr id="60" name="Connector 59"/>
          <p:cNvCxnSpPr>
            <a:cxnSpLocks/>
          </p:cNvCxnSpPr>
          <p:nvPr/>
        </p:nvCxnSpPr>
        <p:spPr>
          <a:xfrm>
            <a:off x="7892637" y="3270495"/>
            <a:ext cx="521208" cy="0"/>
          </a:xfrm>
          <a:prstGeom prst="line">
            <a:avLst/>
          </a:prstGeom>
          <a:ln w="1397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Isosceles Triangle 60"/>
          <p:cNvSpPr/>
          <p:nvPr/>
        </p:nvSpPr>
        <p:spPr>
          <a:xfrm rot="5400000">
            <a:off x="8354409" y="3211059"/>
            <a:ext cx="118872" cy="118872"/>
          </a:xfrm>
          <a:prstGeom prst="triangl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9081357" y="3069326"/>
            <a:ext cx="402336" cy="402336"/>
          </a:xfrm>
          <a:prstGeom prst="ellipse">
            <a:avLst/>
          </a:prstGeom>
          <a:solidFill>
            <a:srgbClr val="FFB84D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163653" y="3151623"/>
            <a:ext cx="228600" cy="20621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06142B"/>
                </a:solidFill>
                <a:latin typeface="Aptos"/>
              </a:rPr>
              <a:t>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880189" y="3663687"/>
            <a:ext cx="914400" cy="2708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AF6FF"/>
                </a:solidFill>
                <a:latin typeface="Aptos"/>
              </a:rPr>
              <a:t>Score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79605" y="4212327"/>
            <a:ext cx="1097280" cy="3200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93A8C5"/>
                </a:solidFill>
                <a:latin typeface="Aptos"/>
              </a:rPr>
              <a:t>rule-based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93A8C5"/>
                </a:solidFill>
                <a:latin typeface="Aptos"/>
              </a:rPr>
              <a:t>risk score</a:t>
            </a:r>
          </a:p>
        </p:txBody>
      </p:sp>
      <p:cxnSp>
        <p:nvCxnSpPr>
          <p:cNvPr id="66" name="Connector 65"/>
          <p:cNvCxnSpPr>
            <a:cxnSpLocks/>
          </p:cNvCxnSpPr>
          <p:nvPr/>
        </p:nvCxnSpPr>
        <p:spPr>
          <a:xfrm>
            <a:off x="9520269" y="3270495"/>
            <a:ext cx="521208" cy="0"/>
          </a:xfrm>
          <a:prstGeom prst="line">
            <a:avLst/>
          </a:prstGeom>
          <a:ln w="1397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Isosceles Triangle 66"/>
          <p:cNvSpPr/>
          <p:nvPr/>
        </p:nvSpPr>
        <p:spPr>
          <a:xfrm rot="5400000">
            <a:off x="9982041" y="3211059"/>
            <a:ext cx="118872" cy="118872"/>
          </a:xfrm>
          <a:prstGeom prst="triangl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10708988" y="3069326"/>
            <a:ext cx="402336" cy="402336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791285" y="3151623"/>
            <a:ext cx="228600" cy="20621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06142B"/>
                </a:solidFill>
                <a:latin typeface="Aptos"/>
              </a:rPr>
              <a:t>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07821" y="3663687"/>
            <a:ext cx="914400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AF6FF"/>
                </a:solidFill>
                <a:latin typeface="Aptos"/>
              </a:rPr>
              <a:t>Explain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AF6FF"/>
                </a:solidFill>
                <a:latin typeface="Aptos"/>
              </a:rPr>
              <a:t>Review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407237" y="4212327"/>
            <a:ext cx="1097280" cy="3200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93A8C5"/>
                </a:solidFill>
                <a:latin typeface="Aptos"/>
              </a:rPr>
              <a:t>path bukti +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93A8C5"/>
                </a:solidFill>
                <a:latin typeface="Aptos"/>
              </a:rPr>
              <a:t>human approval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530352" y="6446520"/>
            <a:ext cx="11128248" cy="0"/>
          </a:xfrm>
          <a:prstGeom prst="line">
            <a:avLst/>
          </a:prstGeom>
          <a:ln w="889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530352" y="6501384"/>
            <a:ext cx="80467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93A8C5"/>
                </a:solidFill>
                <a:latin typeface="Aptos"/>
              </a:rPr>
              <a:t>Mermaid source: visuals/data_flow.mmd dan visuals/risk_scoring_pipeline.mmd.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789920" y="6473952"/>
            <a:ext cx="868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8D9FF"/>
                </a:solidFill>
                <a:latin typeface="Aptos"/>
              </a:rPr>
              <a:t>07 / 10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142B"/>
          </a:solidFill>
          <a:ln>
            <a:solidFill>
              <a:srgbClr val="061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9728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19456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109728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438912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502920"/>
            <a:ext cx="1600200" cy="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109960" y="502920"/>
            <a:ext cx="0" cy="54864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287000" y="1051560"/>
            <a:ext cx="822960" cy="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477756" y="47091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077956" y="47091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077956" y="101955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254996" y="101955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530352" y="6446520"/>
            <a:ext cx="11128248" cy="0"/>
          </a:xfrm>
          <a:prstGeom prst="line">
            <a:avLst/>
          </a:prstGeom>
          <a:ln w="889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30352" y="6501384"/>
            <a:ext cx="80467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789920" y="6473952"/>
            <a:ext cx="868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8D9FF"/>
                </a:solidFill>
                <a:latin typeface="Aptos"/>
              </a:rPr>
              <a:t>08 / 10</a:t>
            </a:r>
          </a:p>
        </p:txBody>
      </p:sp>
      <p:sp>
        <p:nvSpPr>
          <p:cNvPr id="28" name="kicker-marker"/>
          <p:cNvSpPr/>
          <p:nvPr/>
        </p:nvSpPr>
        <p:spPr>
          <a:xfrm>
            <a:off x="530352" y="402336"/>
            <a:ext cx="109728" cy="109728"/>
          </a:xfrm>
          <a:prstGeom prst="rect">
            <a:avLst/>
          </a:prstGeom>
          <a:solidFill>
            <a:srgbClr val="38D9FF"/>
          </a:solidFill>
          <a:ln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kicker-label"/>
          <p:cNvSpPr txBox="1"/>
          <p:nvPr/>
        </p:nvSpPr>
        <p:spPr>
          <a:xfrm>
            <a:off x="713232" y="329184"/>
            <a:ext cx="356616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8D9FF"/>
                </a:solidFill>
                <a:latin typeface="Aptos"/>
              </a:rPr>
              <a:t>INNOVATION / NOVELTY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" y="713232"/>
            <a:ext cx="7863840" cy="6766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EAF6FF"/>
                </a:solidFill>
                <a:latin typeface="Aptos Display"/>
              </a:rPr>
              <a:t>Novelty SATPAM: network-based intelligence yang explainable.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13760" y="1307592"/>
            <a:ext cx="7865806" cy="26314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50" b="0" dirty="0" err="1">
                <a:solidFill>
                  <a:srgbClr val="93A8C5"/>
                </a:solidFill>
                <a:latin typeface="Aptos"/>
              </a:rPr>
              <a:t>Perbedaan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utama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bukan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hanya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deteksi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,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tetapi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pemetaan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hubungan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dan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prioritas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berbasis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graph risk.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1737360"/>
            <a:ext cx="8092440" cy="4480560"/>
          </a:xfrm>
          <a:prstGeom prst="roundRect">
            <a:avLst/>
          </a:prstGeom>
          <a:solidFill>
            <a:srgbClr val="081B36"/>
          </a:solidFill>
          <a:ln w="12700"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8680" y="1938528"/>
            <a:ext cx="137160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3A8C5"/>
                </a:solidFill>
                <a:latin typeface="Aptos"/>
              </a:rPr>
              <a:t>Gap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61488" y="1938528"/>
            <a:ext cx="77724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8D9FF"/>
                </a:solidFill>
                <a:latin typeface="Aptos"/>
              </a:rPr>
              <a:t>Graph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67328" y="1938528"/>
            <a:ext cx="77724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8D9FF"/>
                </a:solidFill>
                <a:latin typeface="Aptos"/>
              </a:rPr>
              <a:t>Search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73168" y="1938528"/>
            <a:ext cx="77724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8D9FF"/>
                </a:solidFill>
                <a:latin typeface="Aptos"/>
              </a:rPr>
              <a:t>Score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79008" y="1938528"/>
            <a:ext cx="77724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8D9FF"/>
                </a:solidFill>
                <a:latin typeface="Aptos"/>
              </a:rPr>
              <a:t>Explain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84848" y="1938528"/>
            <a:ext cx="77724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8D9FF"/>
                </a:solidFill>
                <a:latin typeface="Aptos"/>
              </a:rPr>
              <a:t>Verify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41248" y="2313432"/>
            <a:ext cx="7644384" cy="0"/>
          </a:xfrm>
          <a:prstGeom prst="line">
            <a:avLst/>
          </a:prstGeom>
          <a:ln w="635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68680" y="2450592"/>
            <a:ext cx="1874519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EAF6FF"/>
                </a:solidFill>
                <a:latin typeface="Aptos"/>
              </a:rPr>
              <a:t>Data tersebar</a:t>
            </a:r>
          </a:p>
        </p:txBody>
      </p:sp>
      <p:sp>
        <p:nvSpPr>
          <p:cNvPr id="41" name="Oval 40"/>
          <p:cNvSpPr/>
          <p:nvPr/>
        </p:nvSpPr>
        <p:spPr>
          <a:xfrm>
            <a:off x="3035808" y="2459736"/>
            <a:ext cx="182880" cy="182880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4041648" y="2459736"/>
            <a:ext cx="182880" cy="182880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5084064" y="2496312"/>
            <a:ext cx="109728" cy="10972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6053328" y="2459736"/>
            <a:ext cx="182880" cy="182880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7095744" y="2496312"/>
            <a:ext cx="109728" cy="10972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6" name="Connector 45"/>
          <p:cNvCxnSpPr/>
          <p:nvPr/>
        </p:nvCxnSpPr>
        <p:spPr>
          <a:xfrm>
            <a:off x="841248" y="2971800"/>
            <a:ext cx="7644384" cy="0"/>
          </a:xfrm>
          <a:prstGeom prst="line">
            <a:avLst/>
          </a:prstGeom>
          <a:ln w="635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68680" y="3108960"/>
            <a:ext cx="1874519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EAF6FF"/>
                </a:solidFill>
                <a:latin typeface="Aptos"/>
              </a:rPr>
              <a:t>Sistem reaktif</a:t>
            </a:r>
          </a:p>
        </p:txBody>
      </p:sp>
      <p:sp>
        <p:nvSpPr>
          <p:cNvPr id="48" name="Oval 47"/>
          <p:cNvSpPr/>
          <p:nvPr/>
        </p:nvSpPr>
        <p:spPr>
          <a:xfrm>
            <a:off x="3035808" y="3118104"/>
            <a:ext cx="182880" cy="182880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4041648" y="3118104"/>
            <a:ext cx="182880" cy="182880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5047488" y="3118104"/>
            <a:ext cx="182880" cy="182880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6089904" y="3154680"/>
            <a:ext cx="109728" cy="10972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7059168" y="3118104"/>
            <a:ext cx="182880" cy="182880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3" name="Connector 52"/>
          <p:cNvCxnSpPr/>
          <p:nvPr/>
        </p:nvCxnSpPr>
        <p:spPr>
          <a:xfrm>
            <a:off x="841248" y="3630168"/>
            <a:ext cx="7644384" cy="0"/>
          </a:xfrm>
          <a:prstGeom prst="line">
            <a:avLst/>
          </a:prstGeom>
          <a:ln w="635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68680" y="3767328"/>
            <a:ext cx="1874519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EAF6FF"/>
                </a:solidFill>
                <a:latin typeface="Aptos"/>
              </a:rPr>
              <a:t>Identitas mudah berganti</a:t>
            </a:r>
          </a:p>
        </p:txBody>
      </p:sp>
      <p:sp>
        <p:nvSpPr>
          <p:cNvPr id="55" name="Oval 54"/>
          <p:cNvSpPr/>
          <p:nvPr/>
        </p:nvSpPr>
        <p:spPr>
          <a:xfrm>
            <a:off x="3035808" y="3776472"/>
            <a:ext cx="182880" cy="182880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4041648" y="3776472"/>
            <a:ext cx="182880" cy="182880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5047488" y="3776472"/>
            <a:ext cx="182880" cy="182880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6053328" y="3776472"/>
            <a:ext cx="182880" cy="182880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7095744" y="3813048"/>
            <a:ext cx="109728" cy="10972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0" name="Connector 59"/>
          <p:cNvCxnSpPr/>
          <p:nvPr/>
        </p:nvCxnSpPr>
        <p:spPr>
          <a:xfrm>
            <a:off x="841248" y="4288536"/>
            <a:ext cx="7644384" cy="0"/>
          </a:xfrm>
          <a:prstGeom prst="line">
            <a:avLst/>
          </a:prstGeom>
          <a:ln w="635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868680" y="4425696"/>
            <a:ext cx="1874519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EAF6FF"/>
                </a:solidFill>
                <a:latin typeface="Aptos"/>
              </a:rPr>
              <a:t>Judol-pinjol terpisah</a:t>
            </a:r>
          </a:p>
        </p:txBody>
      </p:sp>
      <p:sp>
        <p:nvSpPr>
          <p:cNvPr id="62" name="Oval 61"/>
          <p:cNvSpPr/>
          <p:nvPr/>
        </p:nvSpPr>
        <p:spPr>
          <a:xfrm>
            <a:off x="3035808" y="4434840"/>
            <a:ext cx="182880" cy="182880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4041648" y="4434840"/>
            <a:ext cx="182880" cy="182880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5047488" y="4434840"/>
            <a:ext cx="182880" cy="182880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6053328" y="4434840"/>
            <a:ext cx="182880" cy="182880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7095744" y="4471416"/>
            <a:ext cx="109728" cy="10972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7" name="Connector 66"/>
          <p:cNvCxnSpPr/>
          <p:nvPr/>
        </p:nvCxnSpPr>
        <p:spPr>
          <a:xfrm>
            <a:off x="841248" y="4946904"/>
            <a:ext cx="7644384" cy="0"/>
          </a:xfrm>
          <a:prstGeom prst="line">
            <a:avLst/>
          </a:prstGeom>
          <a:ln w="635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868680" y="5084064"/>
            <a:ext cx="1874519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EAF6FF"/>
                </a:solidFill>
                <a:latin typeface="Aptos"/>
              </a:rPr>
              <a:t>Output sulit dijelaskan</a:t>
            </a:r>
          </a:p>
        </p:txBody>
      </p:sp>
      <p:sp>
        <p:nvSpPr>
          <p:cNvPr id="69" name="Oval 68"/>
          <p:cNvSpPr/>
          <p:nvPr/>
        </p:nvSpPr>
        <p:spPr>
          <a:xfrm>
            <a:off x="3035808" y="5093208"/>
            <a:ext cx="182880" cy="182880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4041648" y="5093208"/>
            <a:ext cx="182880" cy="182880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5047488" y="5093208"/>
            <a:ext cx="182880" cy="182880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6053328" y="5093208"/>
            <a:ext cx="182880" cy="182880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7059168" y="5093208"/>
            <a:ext cx="182880" cy="182880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9070848" y="1737360"/>
            <a:ext cx="2331720" cy="4480560"/>
          </a:xfrm>
          <a:prstGeom prst="roundRect">
            <a:avLst/>
          </a:prstGeom>
          <a:solidFill>
            <a:srgbClr val="0D315D"/>
          </a:solidFill>
          <a:ln w="12700"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308592" y="2057400"/>
            <a:ext cx="1874519" cy="530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8D9FF"/>
                </a:solidFill>
                <a:latin typeface="Aptos Display"/>
              </a:rPr>
              <a:t>Inovasi inti</a:t>
            </a:r>
          </a:p>
        </p:txBody>
      </p:sp>
      <p:sp>
        <p:nvSpPr>
          <p:cNvPr id="76" name="Oval 75"/>
          <p:cNvSpPr/>
          <p:nvPr/>
        </p:nvSpPr>
        <p:spPr>
          <a:xfrm>
            <a:off x="9253728" y="2916936"/>
            <a:ext cx="109728" cy="109728"/>
          </a:xfrm>
          <a:prstGeom prst="ellipse">
            <a:avLst/>
          </a:prstGeom>
          <a:solidFill>
            <a:srgbClr val="38D9FF"/>
          </a:solidFill>
          <a:ln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464040" y="2889504"/>
            <a:ext cx="173736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AF6FF"/>
                </a:solidFill>
                <a:latin typeface="Aptos"/>
              </a:rPr>
              <a:t>Graph intelligence lintas entitas</a:t>
            </a:r>
          </a:p>
        </p:txBody>
      </p:sp>
      <p:sp>
        <p:nvSpPr>
          <p:cNvPr id="78" name="Oval 77"/>
          <p:cNvSpPr/>
          <p:nvPr/>
        </p:nvSpPr>
        <p:spPr>
          <a:xfrm>
            <a:off x="9253728" y="3374136"/>
            <a:ext cx="109728" cy="109728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464040" y="3346704"/>
            <a:ext cx="173736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AF6FF"/>
                </a:solidFill>
                <a:latin typeface="Aptos"/>
              </a:rPr>
              <a:t>Search-based risk path</a:t>
            </a:r>
          </a:p>
        </p:txBody>
      </p:sp>
      <p:sp>
        <p:nvSpPr>
          <p:cNvPr id="80" name="Oval 79"/>
          <p:cNvSpPr/>
          <p:nvPr/>
        </p:nvSpPr>
        <p:spPr>
          <a:xfrm>
            <a:off x="9253728" y="3831336"/>
            <a:ext cx="109728" cy="109728"/>
          </a:xfrm>
          <a:prstGeom prst="ellipse">
            <a:avLst/>
          </a:prstGeom>
          <a:solidFill>
            <a:srgbClr val="FFB84D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9464040" y="3803904"/>
            <a:ext cx="173736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AF6FF"/>
                </a:solidFill>
                <a:latin typeface="Aptos"/>
              </a:rPr>
              <a:t>Judol-pinjol linkage detection</a:t>
            </a:r>
          </a:p>
        </p:txBody>
      </p:sp>
      <p:sp>
        <p:nvSpPr>
          <p:cNvPr id="82" name="Oval 81"/>
          <p:cNvSpPr/>
          <p:nvPr/>
        </p:nvSpPr>
        <p:spPr>
          <a:xfrm>
            <a:off x="9253728" y="4288536"/>
            <a:ext cx="109728" cy="109728"/>
          </a:xfrm>
          <a:prstGeom prst="ellipse">
            <a:avLst/>
          </a:prstGeom>
          <a:solidFill>
            <a:srgbClr val="FF4D6D"/>
          </a:solidFill>
          <a:ln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9464040" y="4261104"/>
            <a:ext cx="173736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AF6FF"/>
                </a:solidFill>
                <a:latin typeface="Aptos"/>
              </a:rPr>
              <a:t>Rule score yang bisa dijelaskan</a:t>
            </a:r>
          </a:p>
        </p:txBody>
      </p:sp>
      <p:sp>
        <p:nvSpPr>
          <p:cNvPr id="84" name="Oval 83"/>
          <p:cNvSpPr/>
          <p:nvPr/>
        </p:nvSpPr>
        <p:spPr>
          <a:xfrm>
            <a:off x="9253728" y="4745736"/>
            <a:ext cx="109728" cy="109728"/>
          </a:xfrm>
          <a:prstGeom prst="ellipse">
            <a:avLst/>
          </a:prstGeom>
          <a:solidFill>
            <a:srgbClr val="38D9FF"/>
          </a:solidFill>
          <a:ln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464040" y="4718304"/>
            <a:ext cx="173736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AF6FF"/>
                </a:solidFill>
                <a:latin typeface="Aptos"/>
              </a:rPr>
              <a:t>Human verification by design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530352" y="6446520"/>
            <a:ext cx="11128248" cy="0"/>
          </a:xfrm>
          <a:prstGeom prst="line">
            <a:avLst/>
          </a:prstGeom>
          <a:ln w="889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530352" y="6501384"/>
            <a:ext cx="80467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93A8C5"/>
                </a:solidFill>
                <a:latin typeface="Aptos"/>
              </a:rPr>
              <a:t>Novelty disarikan dari SATPAM_Latar_Belakang_Gap_Inovasi.md bagian Gap dan Inovasi.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73952"/>
            <a:ext cx="868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8D9FF"/>
                </a:solidFill>
                <a:latin typeface="Aptos"/>
              </a:rPr>
              <a:t>08 / 10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142B"/>
          </a:solidFill>
          <a:ln>
            <a:solidFill>
              <a:srgbClr val="061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9728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19456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38912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7824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109728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219456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438912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3175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502920"/>
            <a:ext cx="1600200" cy="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109960" y="502920"/>
            <a:ext cx="0" cy="54864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287000" y="1051560"/>
            <a:ext cx="822960" cy="0"/>
          </a:xfrm>
          <a:prstGeom prst="line">
            <a:avLst/>
          </a:prstGeom>
          <a:ln w="1016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477756" y="47091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077956" y="47091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077956" y="101955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254996" y="1019556"/>
            <a:ext cx="64008" cy="64008"/>
          </a:xfrm>
          <a:prstGeom prst="ellipse">
            <a:avLst/>
          </a:prstGeom>
          <a:solidFill>
            <a:srgbClr val="173A62"/>
          </a:solidFill>
          <a:ln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530352" y="6446520"/>
            <a:ext cx="11128248" cy="0"/>
          </a:xfrm>
          <a:prstGeom prst="line">
            <a:avLst/>
          </a:prstGeom>
          <a:ln w="889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30352" y="6501384"/>
            <a:ext cx="80467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789920" y="6473952"/>
            <a:ext cx="868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8D9FF"/>
                </a:solidFill>
                <a:latin typeface="Aptos"/>
              </a:rPr>
              <a:t>09 / 10</a:t>
            </a:r>
          </a:p>
        </p:txBody>
      </p:sp>
      <p:sp>
        <p:nvSpPr>
          <p:cNvPr id="28" name="kicker-marker"/>
          <p:cNvSpPr/>
          <p:nvPr/>
        </p:nvSpPr>
        <p:spPr>
          <a:xfrm>
            <a:off x="530352" y="402336"/>
            <a:ext cx="109728" cy="109728"/>
          </a:xfrm>
          <a:prstGeom prst="rect">
            <a:avLst/>
          </a:prstGeom>
          <a:solidFill>
            <a:srgbClr val="38D9FF"/>
          </a:solidFill>
          <a:ln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kicker-label"/>
          <p:cNvSpPr txBox="1"/>
          <p:nvPr/>
        </p:nvSpPr>
        <p:spPr>
          <a:xfrm>
            <a:off x="713232" y="329184"/>
            <a:ext cx="356616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8D9FF"/>
                </a:solidFill>
                <a:latin typeface="Aptos"/>
              </a:rPr>
              <a:t>BENEFITS AND IMPLEMENTATION ROADMAP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" y="713232"/>
            <a:ext cx="7863840" cy="6766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EAF6FF"/>
                </a:solidFill>
                <a:latin typeface="Aptos Display"/>
              </a:rPr>
              <a:t>Manfaat analitik jelas, roadmap prototype tetap realistis.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59" y="1296383"/>
            <a:ext cx="7315200" cy="26314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50" b="0" dirty="0">
                <a:solidFill>
                  <a:srgbClr val="93A8C5"/>
                </a:solidFill>
                <a:latin typeface="Aptos"/>
              </a:rPr>
              <a:t>SATPAM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memberi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prioritas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dan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jalur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bukti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tanpa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mengambil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alih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keputusan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93A8C5"/>
                </a:solidFill>
                <a:latin typeface="Aptos"/>
              </a:rPr>
              <a:t>manusia</a:t>
            </a:r>
            <a:r>
              <a:rPr sz="1350" b="0" dirty="0">
                <a:solidFill>
                  <a:srgbClr val="93A8C5"/>
                </a:solidFill>
                <a:latin typeface="Aptos"/>
              </a:rPr>
              <a:t>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1719072"/>
            <a:ext cx="3840480" cy="4526280"/>
          </a:xfrm>
          <a:prstGeom prst="roundRect">
            <a:avLst/>
          </a:prstGeom>
          <a:solidFill>
            <a:srgbClr val="081B36"/>
          </a:solidFill>
          <a:ln w="12700">
            <a:solidFill>
              <a:srgbClr val="17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96112" y="1975104"/>
            <a:ext cx="33832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8D9FF"/>
                </a:solidFill>
                <a:latin typeface="Aptos Display"/>
              </a:rPr>
              <a:t>Manfaat</a:t>
            </a:r>
          </a:p>
        </p:txBody>
      </p:sp>
      <p:sp>
        <p:nvSpPr>
          <p:cNvPr id="34" name="Oval 33"/>
          <p:cNvSpPr/>
          <p:nvPr/>
        </p:nvSpPr>
        <p:spPr>
          <a:xfrm>
            <a:off x="841248" y="2660904"/>
            <a:ext cx="201168" cy="201168"/>
          </a:xfrm>
          <a:prstGeom prst="ellipse">
            <a:avLst/>
          </a:prstGeom>
          <a:solidFill>
            <a:srgbClr val="38D9FF"/>
          </a:solidFill>
          <a:ln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170432" y="2615184"/>
            <a:ext cx="30175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AF6FF"/>
                </a:solidFill>
                <a:latin typeface="Aptos"/>
              </a:rPr>
              <a:t>Prioritas kasus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70432" y="2862072"/>
            <a:ext cx="30175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93A8C5"/>
                </a:solidFill>
                <a:latin typeface="Aptos"/>
              </a:rPr>
              <a:t>analis fokus pada risiko tertinggi</a:t>
            </a:r>
          </a:p>
        </p:txBody>
      </p:sp>
      <p:sp>
        <p:nvSpPr>
          <p:cNvPr id="37" name="Oval 36"/>
          <p:cNvSpPr/>
          <p:nvPr/>
        </p:nvSpPr>
        <p:spPr>
          <a:xfrm>
            <a:off x="841248" y="3410712"/>
            <a:ext cx="201168" cy="201168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170432" y="3364991"/>
            <a:ext cx="30175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AF6FF"/>
                </a:solidFill>
                <a:latin typeface="Aptos"/>
              </a:rPr>
              <a:t>Evidence path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70432" y="3611879"/>
            <a:ext cx="30175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93A8C5"/>
                </a:solidFill>
                <a:latin typeface="Aptos"/>
              </a:rPr>
              <a:t>alasan risiko dapat ditelusuri</a:t>
            </a:r>
          </a:p>
        </p:txBody>
      </p:sp>
      <p:sp>
        <p:nvSpPr>
          <p:cNvPr id="40" name="Oval 39"/>
          <p:cNvSpPr/>
          <p:nvPr/>
        </p:nvSpPr>
        <p:spPr>
          <a:xfrm>
            <a:off x="841248" y="4160520"/>
            <a:ext cx="201168" cy="201168"/>
          </a:xfrm>
          <a:prstGeom prst="ellipse">
            <a:avLst/>
          </a:prstGeom>
          <a:solidFill>
            <a:srgbClr val="FFB84D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170432" y="4114800"/>
            <a:ext cx="30175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AF6FF"/>
                </a:solidFill>
                <a:latin typeface="Aptos"/>
              </a:rPr>
              <a:t>Cluster jaringan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70432" y="4361688"/>
            <a:ext cx="30175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93A8C5"/>
                </a:solidFill>
                <a:latin typeface="Aptos"/>
              </a:rPr>
              <a:t>melihat node pusat dan relasi</a:t>
            </a:r>
          </a:p>
        </p:txBody>
      </p:sp>
      <p:sp>
        <p:nvSpPr>
          <p:cNvPr id="43" name="Oval 42"/>
          <p:cNvSpPr/>
          <p:nvPr/>
        </p:nvSpPr>
        <p:spPr>
          <a:xfrm>
            <a:off x="841248" y="4910328"/>
            <a:ext cx="201168" cy="201168"/>
          </a:xfrm>
          <a:prstGeom prst="ellipse">
            <a:avLst/>
          </a:prstGeom>
          <a:solidFill>
            <a:srgbClr val="FF4D6D"/>
          </a:solidFill>
          <a:ln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170432" y="4864608"/>
            <a:ext cx="30175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AF6FF"/>
                </a:solidFill>
                <a:latin typeface="Aptos"/>
              </a:rPr>
              <a:t>Governance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70432" y="5111496"/>
            <a:ext cx="301752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93A8C5"/>
                </a:solidFill>
                <a:latin typeface="Aptos"/>
              </a:rPr>
              <a:t>candidate, review, audit log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800600" y="1719072"/>
            <a:ext cx="6601968" cy="4526280"/>
          </a:xfrm>
          <a:prstGeom prst="roundRect">
            <a:avLst/>
          </a:prstGeom>
          <a:solidFill>
            <a:srgbClr val="081B36"/>
          </a:solidFill>
          <a:ln w="12700"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47488" y="1975104"/>
            <a:ext cx="38404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8D9FF"/>
                </a:solidFill>
                <a:latin typeface="Aptos Display"/>
              </a:rPr>
              <a:t>Roadmap Prototype</a:t>
            </a:r>
          </a:p>
        </p:txBody>
      </p:sp>
      <p:sp>
        <p:nvSpPr>
          <p:cNvPr id="48" name="Oval 47"/>
          <p:cNvSpPr/>
          <p:nvPr/>
        </p:nvSpPr>
        <p:spPr>
          <a:xfrm>
            <a:off x="5102352" y="2660903"/>
            <a:ext cx="256032" cy="256032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9" name="Connector 48"/>
          <p:cNvCxnSpPr/>
          <p:nvPr/>
        </p:nvCxnSpPr>
        <p:spPr>
          <a:xfrm>
            <a:off x="5394959" y="2788920"/>
            <a:ext cx="804672" cy="0"/>
          </a:xfrm>
          <a:prstGeom prst="line">
            <a:avLst/>
          </a:prstGeom>
          <a:ln w="1778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001768" y="3118103"/>
            <a:ext cx="4572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DDC97"/>
                </a:solidFill>
                <a:latin typeface="Aptos"/>
              </a:rPr>
              <a:t>F1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18888" y="3410712"/>
            <a:ext cx="82296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EAF6FF"/>
                </a:solidFill>
                <a:latin typeface="Aptos"/>
              </a:rPr>
              <a:t>Foundation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27448" y="3813048"/>
            <a:ext cx="100584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93A8C5"/>
                </a:solidFill>
                <a:latin typeface="Aptos"/>
              </a:rPr>
              <a:t>schema, Docker, seed</a:t>
            </a:r>
          </a:p>
        </p:txBody>
      </p:sp>
      <p:sp>
        <p:nvSpPr>
          <p:cNvPr id="53" name="Oval 52"/>
          <p:cNvSpPr/>
          <p:nvPr/>
        </p:nvSpPr>
        <p:spPr>
          <a:xfrm>
            <a:off x="6245352" y="2660903"/>
            <a:ext cx="256032" cy="256032"/>
          </a:xfrm>
          <a:prstGeom prst="ellipse">
            <a:avLst/>
          </a:prstGeom>
          <a:solidFill>
            <a:srgbClr val="38D9FF"/>
          </a:solidFill>
          <a:ln>
            <a:solidFill>
              <a:srgbClr val="3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4" name="Connector 53"/>
          <p:cNvCxnSpPr/>
          <p:nvPr/>
        </p:nvCxnSpPr>
        <p:spPr>
          <a:xfrm>
            <a:off x="6537959" y="2788920"/>
            <a:ext cx="804672" cy="0"/>
          </a:xfrm>
          <a:prstGeom prst="line">
            <a:avLst/>
          </a:prstGeom>
          <a:ln w="1778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144768" y="3118103"/>
            <a:ext cx="4572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8D9FF"/>
                </a:solidFill>
                <a:latin typeface="Aptos"/>
              </a:rPr>
              <a:t>F2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61888" y="3410712"/>
            <a:ext cx="82296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EAF6FF"/>
                </a:solidFill>
                <a:latin typeface="Aptos"/>
              </a:rPr>
              <a:t>Data + Graph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70448" y="3813048"/>
            <a:ext cx="100584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93A8C5"/>
                </a:solidFill>
                <a:latin typeface="Aptos"/>
              </a:rPr>
              <a:t>extract, normalize, Neo4j</a:t>
            </a:r>
          </a:p>
        </p:txBody>
      </p:sp>
      <p:sp>
        <p:nvSpPr>
          <p:cNvPr id="58" name="Oval 57"/>
          <p:cNvSpPr/>
          <p:nvPr/>
        </p:nvSpPr>
        <p:spPr>
          <a:xfrm>
            <a:off x="7388351" y="2660903"/>
            <a:ext cx="256032" cy="256032"/>
          </a:xfrm>
          <a:prstGeom prst="ellipse">
            <a:avLst/>
          </a:prstGeom>
          <a:solidFill>
            <a:srgbClr val="FFB84D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9" name="Connector 58"/>
          <p:cNvCxnSpPr/>
          <p:nvPr/>
        </p:nvCxnSpPr>
        <p:spPr>
          <a:xfrm>
            <a:off x="7680959" y="2788920"/>
            <a:ext cx="804673" cy="0"/>
          </a:xfrm>
          <a:prstGeom prst="line">
            <a:avLst/>
          </a:prstGeom>
          <a:ln w="1778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7287767" y="3118103"/>
            <a:ext cx="4572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B84D"/>
                </a:solidFill>
                <a:latin typeface="Aptos"/>
              </a:rPr>
              <a:t>F3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04887" y="3410712"/>
            <a:ext cx="82296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EAF6FF"/>
                </a:solidFill>
                <a:latin typeface="Aptos"/>
              </a:rPr>
              <a:t>Search + Scoring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13447" y="3813048"/>
            <a:ext cx="100584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93A8C5"/>
                </a:solidFill>
                <a:latin typeface="Aptos"/>
              </a:rPr>
              <a:t>BFS, rules, opt. A*</a:t>
            </a:r>
          </a:p>
        </p:txBody>
      </p:sp>
      <p:sp>
        <p:nvSpPr>
          <p:cNvPr id="63" name="Oval 62"/>
          <p:cNvSpPr/>
          <p:nvPr/>
        </p:nvSpPr>
        <p:spPr>
          <a:xfrm>
            <a:off x="8531351" y="2660903"/>
            <a:ext cx="256032" cy="256032"/>
          </a:xfrm>
          <a:prstGeom prst="ellipse">
            <a:avLst/>
          </a:prstGeom>
          <a:solidFill>
            <a:srgbClr val="FF4D6D"/>
          </a:solidFill>
          <a:ln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4" name="Connector 63"/>
          <p:cNvCxnSpPr/>
          <p:nvPr/>
        </p:nvCxnSpPr>
        <p:spPr>
          <a:xfrm>
            <a:off x="8823959" y="2788920"/>
            <a:ext cx="804673" cy="0"/>
          </a:xfrm>
          <a:prstGeom prst="line">
            <a:avLst/>
          </a:prstGeom>
          <a:ln w="17780">
            <a:solidFill>
              <a:srgbClr val="173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8430767" y="3118103"/>
            <a:ext cx="4572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4D6D"/>
                </a:solidFill>
                <a:latin typeface="Aptos"/>
              </a:rPr>
              <a:t>F4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47888" y="3410712"/>
            <a:ext cx="82296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EAF6FF"/>
                </a:solidFill>
                <a:latin typeface="Aptos"/>
              </a:rPr>
              <a:t>Dashboard + Review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56447" y="3813048"/>
            <a:ext cx="100584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93A8C5"/>
                </a:solidFill>
                <a:latin typeface="Aptos"/>
              </a:rPr>
              <a:t>graph explorer, cases</a:t>
            </a:r>
          </a:p>
        </p:txBody>
      </p:sp>
      <p:sp>
        <p:nvSpPr>
          <p:cNvPr id="68" name="Oval 67"/>
          <p:cNvSpPr/>
          <p:nvPr/>
        </p:nvSpPr>
        <p:spPr>
          <a:xfrm>
            <a:off x="9674351" y="2660903"/>
            <a:ext cx="256032" cy="256032"/>
          </a:xfrm>
          <a:prstGeom prst="ellipse">
            <a:avLst/>
          </a:prstGeom>
          <a:solidFill>
            <a:srgbClr val="3DDC97"/>
          </a:solidFill>
          <a:ln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573767" y="3118103"/>
            <a:ext cx="4572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DDC97"/>
                </a:solidFill>
                <a:latin typeface="Aptos"/>
              </a:rPr>
              <a:t>F5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390888" y="3410712"/>
            <a:ext cx="82296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EAF6FF"/>
                </a:solidFill>
                <a:latin typeface="Aptos"/>
              </a:rPr>
              <a:t>Testing + Demo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299447" y="3813048"/>
            <a:ext cx="100584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93A8C5"/>
                </a:solidFill>
                <a:latin typeface="Aptos"/>
              </a:rPr>
              <a:t>pytest, UI smoke, script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321808" y="5230368"/>
            <a:ext cx="5394960" cy="438912"/>
          </a:xfrm>
          <a:prstGeom prst="roundRect">
            <a:avLst/>
          </a:prstGeom>
          <a:solidFill>
            <a:srgbClr val="0B2547"/>
          </a:solidFill>
          <a:ln w="1270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577840" y="5340096"/>
            <a:ext cx="489204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AF6FF"/>
                </a:solidFill>
                <a:latin typeface="Aptos"/>
              </a:rPr>
              <a:t>Target MVP: 1.000 node, 5.000 relationship, dashboard &lt; 3 detik pada dataset prototype.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530352" y="6446520"/>
            <a:ext cx="11128248" cy="0"/>
          </a:xfrm>
          <a:prstGeom prst="line">
            <a:avLst/>
          </a:prstGeom>
          <a:ln w="8890">
            <a:solidFill>
              <a:srgbClr val="1234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530352" y="6501384"/>
            <a:ext cx="80467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93A8C5"/>
                </a:solidFill>
                <a:latin typeface="Aptos"/>
              </a:rPr>
              <a:t>Roadmap berdasarkan SRS SATPAM fase implementasi prototype.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789920" y="6473952"/>
            <a:ext cx="868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8D9FF"/>
                </a:solidFill>
                <a:latin typeface="Aptos"/>
              </a:rPr>
              <a:t>09 / 10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1832</Words>
  <Application>Microsoft Office PowerPoint</Application>
  <PresentationFormat>Widescreen</PresentationFormat>
  <Paragraphs>253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Dzaky Ghiffary</cp:lastModifiedBy>
  <cp:revision>5</cp:revision>
  <dcterms:created xsi:type="dcterms:W3CDTF">2013-01-27T09:14:16Z</dcterms:created>
  <dcterms:modified xsi:type="dcterms:W3CDTF">2026-06-04T01:48:08Z</dcterms:modified>
  <cp:category/>
</cp:coreProperties>
</file>